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457200" y="1371600"/>
            <a:ext cx="10972800" cy="1371600"/>
          </a:xfrm>
          <a:prstGeom prst="rect">
            <a:avLst/>
          </a:prstGeom>
          <a:noFill/>
        </p:spPr>
        <p:txBody>
          <a:bodyPr wrap="square">
            <a:spAutoFit/>
          </a:bodyPr>
          <a:lstStyle/>
          <a:p>
            <a:pPr algn="ctr"/>
            <a:r>
              <a:rPr sz="4400" b="1">
                <a:solidFill>
                  <a:srgbClr val="FFFFFF"/>
                </a:solidFill>
              </a:rPr>
              <a:t>CrossDisc-Bench</a:t>
            </a:r>
          </a:p>
        </p:txBody>
      </p:sp>
      <p:sp>
        <p:nvSpPr>
          <p:cNvPr id="3" name="TextBox 2"/>
          <p:cNvSpPr txBox="1"/>
          <p:nvPr/>
        </p:nvSpPr>
        <p:spPr>
          <a:xfrm>
            <a:off x="457200" y="2743200"/>
            <a:ext cx="10972800" cy="731520"/>
          </a:xfrm>
          <a:prstGeom prst="rect">
            <a:avLst/>
          </a:prstGeom>
          <a:noFill/>
        </p:spPr>
        <p:txBody>
          <a:bodyPr wrap="square">
            <a:spAutoFit/>
          </a:bodyPr>
          <a:lstStyle/>
          <a:p>
            <a:pPr algn="ctr"/>
            <a:r>
              <a:rPr sz="2200" b="0">
                <a:solidFill>
                  <a:srgbClr val="BBDDFF"/>
                </a:solidFill>
              </a:rPr>
              <a:t>全流程实例展示 — 各环节输入/输出详解</a:t>
            </a:r>
          </a:p>
        </p:txBody>
      </p:sp>
      <p:sp>
        <p:nvSpPr>
          <p:cNvPr id="4" name="TextBox 3"/>
          <p:cNvSpPr txBox="1"/>
          <p:nvPr/>
        </p:nvSpPr>
        <p:spPr>
          <a:xfrm>
            <a:off x="1371600" y="4114800"/>
            <a:ext cx="9144000" cy="1371600"/>
          </a:xfrm>
          <a:prstGeom prst="rect">
            <a:avLst/>
          </a:prstGeom>
          <a:noFill/>
        </p:spPr>
        <p:txBody>
          <a:bodyPr wrap="square">
            <a:spAutoFit/>
          </a:bodyPr>
          <a:lstStyle/>
          <a:p>
            <a:pPr algn="ctr"/>
            <a:r>
              <a:rPr sz="1600" b="0">
                <a:solidFill>
                  <a:srgbClr val="DDDDDD"/>
                </a:solidFill>
              </a:rPr>
              <a:t>示例论文: Nano-island-encapsulated cobalt single-atom catalysts
for breaking activity-stability trade-off in Fenton-like reactions
Nature Communications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全流程总览</a:t>
            </a:r>
          </a:p>
        </p:txBody>
      </p:sp>
      <p:sp>
        <p:nvSpPr>
          <p:cNvPr id="3" name="Rectangle 2"/>
          <p:cNvSpPr/>
          <p:nvPr/>
        </p:nvSpPr>
        <p:spPr>
          <a:xfrm>
            <a:off x="457200" y="1097280"/>
            <a:ext cx="1737360"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① 学科分类</a:t>
            </a:r>
          </a:p>
          <a:p>
            <a:pPr algn="ctr"/>
            <a:r>
              <a:rPr sz="1000">
                <a:solidFill>
                  <a:srgbClr val="FFFFFF"/>
                </a:solidFill>
              </a:rPr>
              <a:t>论文 → 主/辅学科</a:t>
            </a:r>
          </a:p>
        </p:txBody>
      </p:sp>
      <p:sp>
        <p:nvSpPr>
          <p:cNvPr id="4" name="Rectangle 3"/>
          <p:cNvSpPr/>
          <p:nvPr/>
        </p:nvSpPr>
        <p:spPr>
          <a:xfrm>
            <a:off x="2240280" y="1417320"/>
            <a:ext cx="137160"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377440" y="1097280"/>
            <a:ext cx="1737360" cy="109728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② 概念抽取</a:t>
            </a:r>
          </a:p>
          <a:p>
            <a:pPr algn="ctr"/>
            <a:r>
              <a:rPr sz="1000">
                <a:solidFill>
                  <a:srgbClr val="FFFFFF"/>
                </a:solidFill>
              </a:rPr>
              <a:t>摘要 → 22个概念</a:t>
            </a:r>
          </a:p>
        </p:txBody>
      </p:sp>
      <p:sp>
        <p:nvSpPr>
          <p:cNvPr id="6" name="Rectangle 5"/>
          <p:cNvSpPr/>
          <p:nvPr/>
        </p:nvSpPr>
        <p:spPr>
          <a:xfrm>
            <a:off x="4160520" y="1417320"/>
            <a:ext cx="137160"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097280"/>
            <a:ext cx="1737360" cy="10972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③ 关系抽取</a:t>
            </a:r>
          </a:p>
          <a:p>
            <a:pPr algn="ctr"/>
            <a:r>
              <a:rPr sz="1000">
                <a:solidFill>
                  <a:srgbClr val="FFFFFF"/>
                </a:solidFill>
              </a:rPr>
              <a:t>概念 → 8条关系</a:t>
            </a:r>
          </a:p>
        </p:txBody>
      </p:sp>
      <p:sp>
        <p:nvSpPr>
          <p:cNvPr id="8" name="Rectangle 7"/>
          <p:cNvSpPr/>
          <p:nvPr/>
        </p:nvSpPr>
        <p:spPr>
          <a:xfrm>
            <a:off x="6080760" y="1417320"/>
            <a:ext cx="137160"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097280"/>
            <a:ext cx="1737360"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④ 查询生成</a:t>
            </a:r>
          </a:p>
          <a:p>
            <a:pPr algn="ctr"/>
            <a:r>
              <a:rPr sz="1000">
                <a:solidFill>
                  <a:srgbClr val="FFFFFF"/>
                </a:solidFill>
              </a:rPr>
              <a:t>关系 → L1/L2/L3查询</a:t>
            </a:r>
          </a:p>
        </p:txBody>
      </p:sp>
      <p:sp>
        <p:nvSpPr>
          <p:cNvPr id="10" name="Rectangle 9"/>
          <p:cNvSpPr/>
          <p:nvPr/>
        </p:nvSpPr>
        <p:spPr>
          <a:xfrm>
            <a:off x="8001000" y="1417320"/>
            <a:ext cx="137160"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1097280"/>
            <a:ext cx="1737360" cy="109728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⑤ 假设路径</a:t>
            </a:r>
          </a:p>
          <a:p>
            <a:pPr algn="ctr"/>
            <a:r>
              <a:rPr sz="1000">
                <a:solidFill>
                  <a:srgbClr val="FFFFFF"/>
                </a:solidFill>
              </a:rPr>
              <a:t>查询 → 7条路径</a:t>
            </a:r>
          </a:p>
        </p:txBody>
      </p:sp>
      <p:sp>
        <p:nvSpPr>
          <p:cNvPr id="12" name="Rectangle 11"/>
          <p:cNvSpPr/>
          <p:nvPr/>
        </p:nvSpPr>
        <p:spPr>
          <a:xfrm>
            <a:off x="9921240" y="1417320"/>
            <a:ext cx="137160"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058400" y="1097280"/>
            <a:ext cx="1737360" cy="10972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⑥ KG构建</a:t>
            </a:r>
          </a:p>
          <a:p>
            <a:pPr algn="ctr"/>
            <a:r>
              <a:rPr sz="1000">
                <a:solidFill>
                  <a:srgbClr val="FFFFFF"/>
                </a:solidFill>
              </a:rPr>
              <a:t>节点+边 → 图谱</a:t>
            </a:r>
          </a:p>
        </p:txBody>
      </p:sp>
      <p:sp>
        <p:nvSpPr>
          <p:cNvPr id="14" name="Rectangle 13"/>
          <p:cNvSpPr/>
          <p:nvPr/>
        </p:nvSpPr>
        <p:spPr>
          <a:xfrm>
            <a:off x="457200" y="2560320"/>
            <a:ext cx="5029200" cy="118872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GT 构建</a:t>
            </a:r>
          </a:p>
          <a:p>
            <a:pPr>
              <a:spcBef>
                <a:spcPts val="400"/>
              </a:spcBef>
            </a:pPr>
            <a:r>
              <a:rPr sz="1200">
                <a:solidFill>
                  <a:srgbClr val="333333"/>
                </a:solidFill>
              </a:rPr>
              <a:t>术语抽取 → 关系构建 → 跨学科路径
30术语 + 9关系 + 7路径</a:t>
            </a:r>
          </a:p>
        </p:txBody>
      </p:sp>
      <p:sp>
        <p:nvSpPr>
          <p:cNvPr id="15" name="Rectangle 14"/>
          <p:cNvSpPr/>
          <p:nvPr/>
        </p:nvSpPr>
        <p:spPr>
          <a:xfrm>
            <a:off x="5943600" y="2560320"/>
            <a:ext cx="5760720" cy="118872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P1-P5 评估</a:t>
            </a:r>
          </a:p>
          <a:p>
            <a:pPr>
              <a:spcBef>
                <a:spcPts val="400"/>
              </a:spcBef>
            </a:pPr>
            <a:r>
              <a:rPr sz="1200">
                <a:solidFill>
                  <a:srgbClr val="333333"/>
                </a:solidFill>
              </a:rPr>
              <a:t>P1(裸问题) → P2(+摘要) → P3(+概念) → P4(+关系) → P5(全KG)
新颖性 / 具体性 / 可行性 / 相关性 / 跨学科</a:t>
            </a:r>
          </a:p>
        </p:txBody>
      </p:sp>
      <p:sp>
        <p:nvSpPr>
          <p:cNvPr id="16" name="TextBox 15"/>
          <p:cNvSpPr txBox="1"/>
          <p:nvPr/>
        </p:nvSpPr>
        <p:spPr>
          <a:xfrm>
            <a:off x="457200" y="4114800"/>
            <a:ext cx="1737360" cy="548640"/>
          </a:xfrm>
          <a:prstGeom prst="rect">
            <a:avLst/>
          </a:prstGeom>
          <a:noFill/>
        </p:spPr>
        <p:txBody>
          <a:bodyPr wrap="square">
            <a:spAutoFit/>
          </a:bodyPr>
          <a:lstStyle/>
          <a:p>
            <a:pPr algn="ctr"/>
            <a:r>
              <a:rPr sz="2800" b="1">
                <a:solidFill>
                  <a:srgbClr val="1F4E79"/>
                </a:solidFill>
              </a:rPr>
              <a:t>94</a:t>
            </a:r>
          </a:p>
        </p:txBody>
      </p:sp>
      <p:sp>
        <p:nvSpPr>
          <p:cNvPr id="17" name="TextBox 16"/>
          <p:cNvSpPr txBox="1"/>
          <p:nvPr/>
        </p:nvSpPr>
        <p:spPr>
          <a:xfrm>
            <a:off x="457200" y="4663440"/>
            <a:ext cx="1737360" cy="365760"/>
          </a:xfrm>
          <a:prstGeom prst="rect">
            <a:avLst/>
          </a:prstGeom>
          <a:noFill/>
        </p:spPr>
        <p:txBody>
          <a:bodyPr wrap="square">
            <a:spAutoFit/>
          </a:bodyPr>
          <a:lstStyle/>
          <a:p>
            <a:pPr algn="ctr"/>
            <a:r>
              <a:rPr sz="1100" b="0">
                <a:solidFill>
                  <a:srgbClr val="666666"/>
                </a:solidFill>
              </a:rPr>
              <a:t>篇成功抽取</a:t>
            </a:r>
          </a:p>
        </p:txBody>
      </p:sp>
      <p:sp>
        <p:nvSpPr>
          <p:cNvPr id="18" name="TextBox 17"/>
          <p:cNvSpPr txBox="1"/>
          <p:nvPr/>
        </p:nvSpPr>
        <p:spPr>
          <a:xfrm>
            <a:off x="2377440" y="4114800"/>
            <a:ext cx="1737360" cy="548640"/>
          </a:xfrm>
          <a:prstGeom prst="rect">
            <a:avLst/>
          </a:prstGeom>
          <a:noFill/>
        </p:spPr>
        <p:txBody>
          <a:bodyPr wrap="square">
            <a:spAutoFit/>
          </a:bodyPr>
          <a:lstStyle/>
          <a:p>
            <a:pPr algn="ctr"/>
            <a:r>
              <a:rPr sz="2800" b="1">
                <a:solidFill>
                  <a:srgbClr val="1F4E79"/>
                </a:solidFill>
              </a:rPr>
              <a:t>28.8</a:t>
            </a:r>
          </a:p>
        </p:txBody>
      </p:sp>
      <p:sp>
        <p:nvSpPr>
          <p:cNvPr id="19" name="TextBox 18"/>
          <p:cNvSpPr txBox="1"/>
          <p:nvPr/>
        </p:nvSpPr>
        <p:spPr>
          <a:xfrm>
            <a:off x="2377440" y="4663440"/>
            <a:ext cx="1737360" cy="365760"/>
          </a:xfrm>
          <a:prstGeom prst="rect">
            <a:avLst/>
          </a:prstGeom>
          <a:noFill/>
        </p:spPr>
        <p:txBody>
          <a:bodyPr wrap="square">
            <a:spAutoFit/>
          </a:bodyPr>
          <a:lstStyle/>
          <a:p>
            <a:pPr algn="ctr"/>
            <a:r>
              <a:rPr sz="1100" b="0">
                <a:solidFill>
                  <a:srgbClr val="666666"/>
                </a:solidFill>
              </a:rPr>
              <a:t>平均节点/篇</a:t>
            </a:r>
          </a:p>
        </p:txBody>
      </p:sp>
      <p:sp>
        <p:nvSpPr>
          <p:cNvPr id="20" name="TextBox 19"/>
          <p:cNvSpPr txBox="1"/>
          <p:nvPr/>
        </p:nvSpPr>
        <p:spPr>
          <a:xfrm>
            <a:off x="4297680" y="4114800"/>
            <a:ext cx="1737360" cy="548640"/>
          </a:xfrm>
          <a:prstGeom prst="rect">
            <a:avLst/>
          </a:prstGeom>
          <a:noFill/>
        </p:spPr>
        <p:txBody>
          <a:bodyPr wrap="square">
            <a:spAutoFit/>
          </a:bodyPr>
          <a:lstStyle/>
          <a:p>
            <a:pPr algn="ctr"/>
            <a:r>
              <a:rPr sz="2800" b="1">
                <a:solidFill>
                  <a:srgbClr val="1F4E79"/>
                </a:solidFill>
              </a:rPr>
              <a:t>27.1</a:t>
            </a:r>
          </a:p>
        </p:txBody>
      </p:sp>
      <p:sp>
        <p:nvSpPr>
          <p:cNvPr id="21" name="TextBox 20"/>
          <p:cNvSpPr txBox="1"/>
          <p:nvPr/>
        </p:nvSpPr>
        <p:spPr>
          <a:xfrm>
            <a:off x="4297680" y="4663440"/>
            <a:ext cx="1737360" cy="365760"/>
          </a:xfrm>
          <a:prstGeom prst="rect">
            <a:avLst/>
          </a:prstGeom>
          <a:noFill/>
        </p:spPr>
        <p:txBody>
          <a:bodyPr wrap="square">
            <a:spAutoFit/>
          </a:bodyPr>
          <a:lstStyle/>
          <a:p>
            <a:pPr algn="ctr"/>
            <a:r>
              <a:rPr sz="1100" b="0">
                <a:solidFill>
                  <a:srgbClr val="666666"/>
                </a:solidFill>
              </a:rPr>
              <a:t>平均边/篇</a:t>
            </a:r>
          </a:p>
        </p:txBody>
      </p:sp>
      <p:sp>
        <p:nvSpPr>
          <p:cNvPr id="22" name="TextBox 21"/>
          <p:cNvSpPr txBox="1"/>
          <p:nvPr/>
        </p:nvSpPr>
        <p:spPr>
          <a:xfrm>
            <a:off x="6217920" y="4114800"/>
            <a:ext cx="1737360" cy="548640"/>
          </a:xfrm>
          <a:prstGeom prst="rect">
            <a:avLst/>
          </a:prstGeom>
          <a:noFill/>
        </p:spPr>
        <p:txBody>
          <a:bodyPr wrap="square">
            <a:spAutoFit/>
          </a:bodyPr>
          <a:lstStyle/>
          <a:p>
            <a:pPr algn="ctr"/>
            <a:r>
              <a:rPr sz="2800" b="1">
                <a:solidFill>
                  <a:srgbClr val="1F4E79"/>
                </a:solidFill>
              </a:rPr>
              <a:t>12</a:t>
            </a:r>
          </a:p>
        </p:txBody>
      </p:sp>
      <p:sp>
        <p:nvSpPr>
          <p:cNvPr id="23" name="TextBox 22"/>
          <p:cNvSpPr txBox="1"/>
          <p:nvPr/>
        </p:nvSpPr>
        <p:spPr>
          <a:xfrm>
            <a:off x="6217920" y="4663440"/>
            <a:ext cx="1737360" cy="365760"/>
          </a:xfrm>
          <a:prstGeom prst="rect">
            <a:avLst/>
          </a:prstGeom>
          <a:noFill/>
        </p:spPr>
        <p:txBody>
          <a:bodyPr wrap="square">
            <a:spAutoFit/>
          </a:bodyPr>
          <a:lstStyle/>
          <a:p>
            <a:pPr algn="ctr"/>
            <a:r>
              <a:rPr sz="1100" b="0">
                <a:solidFill>
                  <a:srgbClr val="666666"/>
                </a:solidFill>
              </a:rPr>
              <a:t>种关系类型</a:t>
            </a:r>
          </a:p>
        </p:txBody>
      </p:sp>
      <p:sp>
        <p:nvSpPr>
          <p:cNvPr id="24" name="TextBox 23"/>
          <p:cNvSpPr txBox="1"/>
          <p:nvPr/>
        </p:nvSpPr>
        <p:spPr>
          <a:xfrm>
            <a:off x="8138160" y="4114800"/>
            <a:ext cx="1737360" cy="548640"/>
          </a:xfrm>
          <a:prstGeom prst="rect">
            <a:avLst/>
          </a:prstGeom>
          <a:noFill/>
        </p:spPr>
        <p:txBody>
          <a:bodyPr wrap="square">
            <a:spAutoFit/>
          </a:bodyPr>
          <a:lstStyle/>
          <a:p>
            <a:pPr algn="ctr"/>
            <a:r>
              <a:rPr sz="2800" b="1">
                <a:solidFill>
                  <a:srgbClr val="1F4E79"/>
                </a:solidFill>
              </a:rPr>
              <a:t>2,907</a:t>
            </a:r>
          </a:p>
        </p:txBody>
      </p:sp>
      <p:sp>
        <p:nvSpPr>
          <p:cNvPr id="25" name="TextBox 24"/>
          <p:cNvSpPr txBox="1"/>
          <p:nvPr/>
        </p:nvSpPr>
        <p:spPr>
          <a:xfrm>
            <a:off x="8138160" y="4663440"/>
            <a:ext cx="1737360" cy="365760"/>
          </a:xfrm>
          <a:prstGeom prst="rect">
            <a:avLst/>
          </a:prstGeom>
          <a:noFill/>
        </p:spPr>
        <p:txBody>
          <a:bodyPr wrap="square">
            <a:spAutoFit/>
          </a:bodyPr>
          <a:lstStyle/>
          <a:p>
            <a:pPr algn="ctr"/>
            <a:r>
              <a:rPr sz="1100" b="0">
                <a:solidFill>
                  <a:srgbClr val="666666"/>
                </a:solidFill>
              </a:rPr>
              <a:t>总 GT 术语</a:t>
            </a:r>
          </a:p>
        </p:txBody>
      </p:sp>
      <p:sp>
        <p:nvSpPr>
          <p:cNvPr id="26" name="TextBox 25"/>
          <p:cNvSpPr txBox="1"/>
          <p:nvPr/>
        </p:nvSpPr>
        <p:spPr>
          <a:xfrm>
            <a:off x="10058400" y="4114800"/>
            <a:ext cx="1737360" cy="548640"/>
          </a:xfrm>
          <a:prstGeom prst="rect">
            <a:avLst/>
          </a:prstGeom>
          <a:noFill/>
        </p:spPr>
        <p:txBody>
          <a:bodyPr wrap="square">
            <a:spAutoFit/>
          </a:bodyPr>
          <a:lstStyle/>
          <a:p>
            <a:pPr algn="ctr"/>
            <a:r>
              <a:rPr sz="2800" b="1">
                <a:solidFill>
                  <a:srgbClr val="1F4E79"/>
                </a:solidFill>
              </a:rPr>
              <a:t>1,941</a:t>
            </a:r>
          </a:p>
        </p:txBody>
      </p:sp>
      <p:sp>
        <p:nvSpPr>
          <p:cNvPr id="27" name="TextBox 26"/>
          <p:cNvSpPr txBox="1"/>
          <p:nvPr/>
        </p:nvSpPr>
        <p:spPr>
          <a:xfrm>
            <a:off x="10058400" y="4663440"/>
            <a:ext cx="1737360" cy="365760"/>
          </a:xfrm>
          <a:prstGeom prst="rect">
            <a:avLst/>
          </a:prstGeom>
          <a:noFill/>
        </p:spPr>
        <p:txBody>
          <a:bodyPr wrap="square">
            <a:spAutoFit/>
          </a:bodyPr>
          <a:lstStyle/>
          <a:p>
            <a:pPr algn="ctr"/>
            <a:r>
              <a:rPr sz="1100" b="0">
                <a:solidFill>
                  <a:srgbClr val="666666"/>
                </a:solidFill>
              </a:rPr>
              <a:t>总 GT 关系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任务定义 (Task Definition)</a:t>
            </a:r>
          </a:p>
        </p:txBody>
      </p:sp>
      <p:sp>
        <p:nvSpPr>
          <p:cNvPr id="3" name="Rectangle 2"/>
          <p:cNvSpPr/>
          <p:nvPr/>
        </p:nvSpPr>
        <p:spPr>
          <a:xfrm>
            <a:off x="274320" y="914400"/>
            <a:ext cx="5486400" cy="164592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1F4E79"/>
                </a:solidFill>
              </a:rPr>
              <a:t>定义 1: 跨学科知识图谱 G_p = (V, E, φ_v, φ_e)</a:t>
            </a:r>
          </a:p>
          <a:p>
            <a:pPr>
              <a:spcBef>
                <a:spcPts val="400"/>
              </a:spcBef>
            </a:pPr>
            <a:r>
              <a:rPr sz="1300">
                <a:solidFill>
                  <a:srgbClr val="333333"/>
                </a:solidFill>
              </a:rPr>
              <a:t>• V = 概念节点 (术语 + 学科标签 + 证据 + 置信度)
• E ⊆ V × R × V, R = 12种关系类型
• 跨学科边: φ_v(u) ≠ φ_v(v)</a:t>
            </a:r>
          </a:p>
        </p:txBody>
      </p:sp>
      <p:sp>
        <p:nvSpPr>
          <p:cNvPr id="4" name="Rectangle 3"/>
          <p:cNvSpPr/>
          <p:nvPr/>
        </p:nvSpPr>
        <p:spPr>
          <a:xfrm>
            <a:off x="274320" y="2743200"/>
            <a:ext cx="5486400" cy="146304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548235"/>
                </a:solidFill>
              </a:rPr>
              <a:t>定义 2: 假设推理路径 h = &lt;s₁, s₂, s₃&gt;</a:t>
            </a:r>
          </a:p>
          <a:p>
            <a:pPr>
              <a:spcBef>
                <a:spcPts val="400"/>
              </a:spcBef>
            </a:pPr>
            <a:r>
              <a:rPr sz="1300">
                <a:solidFill>
                  <a:srgbClr val="333333"/>
                </a:solidFill>
              </a:rPr>
              <a:t>• 每步 s_i = (head, relation, tail, claim)
• 链式约束: tail_i = head_{i+1}
• L1(宏观) / L2(中观) / L3(微观)</a:t>
            </a:r>
          </a:p>
        </p:txBody>
      </p:sp>
      <p:sp>
        <p:nvSpPr>
          <p:cNvPr id="5" name="Rectangle 4"/>
          <p:cNvSpPr/>
          <p:nvPr/>
        </p:nvSpPr>
        <p:spPr>
          <a:xfrm>
            <a:off x="6217920" y="914400"/>
            <a:ext cx="5486400" cy="13716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1F4E79"/>
                </a:solidFill>
              </a:rPr>
              <a:t>输入</a:t>
            </a:r>
          </a:p>
          <a:p>
            <a:pPr>
              <a:spcBef>
                <a:spcPts val="400"/>
              </a:spcBef>
            </a:pPr>
            <a:r>
              <a:rPr sz="1300">
                <a:solidFill>
                  <a:srgbClr val="333333"/>
                </a:solidFill>
              </a:rPr>
              <a:t>• 论文标题 + 摘要
• 学科分类体系 (50 L1, 2351 叶节点)
• 12种关系类型词表</a:t>
            </a:r>
          </a:p>
        </p:txBody>
      </p:sp>
      <p:sp>
        <p:nvSpPr>
          <p:cNvPr id="6" name="Rectangle 5"/>
          <p:cNvSpPr/>
          <p:nvPr/>
        </p:nvSpPr>
        <p:spPr>
          <a:xfrm>
            <a:off x="6217920" y="2468880"/>
            <a:ext cx="5486400" cy="13716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548235"/>
                </a:solidFill>
              </a:rPr>
              <a:t>输出</a:t>
            </a:r>
          </a:p>
          <a:p>
            <a:pPr>
              <a:spcBef>
                <a:spcPts val="400"/>
              </a:spcBef>
            </a:pPr>
            <a:r>
              <a:rPr sz="1300">
                <a:solidFill>
                  <a:srgbClr val="333333"/>
                </a:solidFill>
              </a:rPr>
              <a:t>• 知识图谱: 28.8节点 + 27.1边/篇
• 假设路径: L1~2.5 + L2~2.0 + L3~2.0 条/篇
• GT数据集: 32术语 + 21关系/篇</a:t>
            </a:r>
          </a:p>
        </p:txBody>
      </p:sp>
      <p:sp>
        <p:nvSpPr>
          <p:cNvPr id="7" name="Rectangle 6"/>
          <p:cNvSpPr/>
          <p:nvPr/>
        </p:nvSpPr>
        <p:spPr>
          <a:xfrm>
            <a:off x="6217920" y="4023360"/>
            <a:ext cx="5486400" cy="73152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ED7D31"/>
                </a:solidFill>
              </a:rPr>
              <a:t>核心约束</a:t>
            </a:r>
          </a:p>
          <a:p>
            <a:pPr>
              <a:spcBef>
                <a:spcPts val="400"/>
              </a:spcBef>
            </a:pPr>
            <a:r>
              <a:rPr sz="1300">
                <a:solidFill>
                  <a:srgbClr val="333333"/>
                </a:solidFill>
              </a:rPr>
              <a:t>① 链式一致性  ② 至少一条跨学科边  ③ 可验证性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1: 学科分类</a:t>
            </a:r>
          </a:p>
        </p:txBody>
      </p:sp>
      <p:sp>
        <p:nvSpPr>
          <p:cNvPr id="3" name="Rectangle 2"/>
          <p:cNvSpPr/>
          <p:nvPr/>
        </p:nvSpPr>
        <p:spPr>
          <a:xfrm>
            <a:off x="274320" y="914400"/>
            <a:ext cx="5029200" cy="22860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输入: 论文元数据</a:t>
            </a:r>
          </a:p>
          <a:p>
            <a:pPr>
              <a:spcBef>
                <a:spcPts val="400"/>
              </a:spcBef>
            </a:pPr>
            <a:r>
              <a:rPr sz="1200">
                <a:solidFill>
                  <a:srgbClr val="333333"/>
                </a:solidFill>
              </a:rPr>
              <a:t>Title: Nano-island-encapsulated cobalt single-atom
catalysts for breaking activity-stability trade-off
in Fenton-like reactions
Abstract: Single-atom catalysts (SACs) have been
increasingly acknowledged for their performance in
sustainable Fenton-like catalysis...</a:t>
            </a:r>
          </a:p>
        </p:txBody>
      </p:sp>
      <p:sp>
        <p:nvSpPr>
          <p:cNvPr id="4" name="Rectangle 3"/>
          <p:cNvSpPr/>
          <p:nvPr/>
        </p:nvSpPr>
        <p:spPr>
          <a:xfrm>
            <a:off x="5486400" y="1828800"/>
            <a:ext cx="731520" cy="2743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0" y="1691640"/>
            <a:ext cx="731520" cy="457200"/>
          </a:xfrm>
          <a:prstGeom prst="rect">
            <a:avLst/>
          </a:prstGeom>
          <a:noFill/>
        </p:spPr>
        <p:txBody>
          <a:bodyPr wrap="square">
            <a:spAutoFit/>
          </a:bodyPr>
          <a:lstStyle/>
          <a:p>
            <a:pPr algn="ctr"/>
            <a:r>
              <a:rPr sz="2400" b="1">
                <a:solidFill>
                  <a:srgbClr val="FFFFFF"/>
                </a:solidFill>
              </a:rPr>
              <a:t>→</a:t>
            </a:r>
          </a:p>
        </p:txBody>
      </p:sp>
      <p:sp>
        <p:nvSpPr>
          <p:cNvPr id="6" name="Rectangle 5"/>
          <p:cNvSpPr/>
          <p:nvPr/>
        </p:nvSpPr>
        <p:spPr>
          <a:xfrm>
            <a:off x="6400800" y="914400"/>
            <a:ext cx="5303520" cy="228600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548235"/>
                </a:solidFill>
              </a:rPr>
              <a:t>输出: 分类结果</a:t>
            </a:r>
          </a:p>
          <a:p>
            <a:pPr>
              <a:spcBef>
                <a:spcPts val="400"/>
              </a:spcBef>
            </a:pPr>
            <a:r>
              <a:rPr sz="1300">
                <a:solidFill>
                  <a:srgbClr val="333333"/>
                </a:solidFill>
              </a:rPr>
              <a:t>主学科: 化学
辅学科: 材料科学, 环境科学技术
✓ 涉及 ≥2 个 L1 学科 → 跨学科论文
跨学科对:
  化学 ↔ 材料科学
  化学 ↔ 环境科学技术</a:t>
            </a:r>
          </a:p>
        </p:txBody>
      </p:sp>
      <p:sp>
        <p:nvSpPr>
          <p:cNvPr id="7" name="Rectangle 6"/>
          <p:cNvSpPr/>
          <p:nvPr/>
        </p:nvSpPr>
        <p:spPr>
          <a:xfrm>
            <a:off x="274320" y="3474720"/>
            <a:ext cx="11430000" cy="91440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处理过程: LLM 三轮分层分类</a:t>
            </a:r>
          </a:p>
          <a:p>
            <a:pPr>
              <a:spcBef>
                <a:spcPts val="400"/>
              </a:spcBef>
            </a:pPr>
            <a:r>
              <a:rPr sz="1200">
                <a:solidFill>
                  <a:srgbClr val="333333"/>
                </a:solidFill>
              </a:rPr>
              <a:t>第1轮: L1 一级学科 (50个候选) → 化学, 材料科学, 环境科学
第2轮: L2 在选定 L1 内细化
第3轮: L3 叶节点级别分配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2: 概念抽取 — 主学科概念 (12个)</a:t>
            </a:r>
          </a:p>
        </p:txBody>
      </p:sp>
      <p:graphicFrame>
        <p:nvGraphicFramePr>
          <p:cNvPr id="3" name="Table 2"/>
          <p:cNvGraphicFramePr>
            <a:graphicFrameLocks noGrp="1"/>
          </p:cNvGraphicFramePr>
          <p:nvPr/>
        </p:nvGraphicFramePr>
        <p:xfrm>
          <a:off x="274320" y="914400"/>
          <a:ext cx="11612880" cy="2743200"/>
        </p:xfrm>
        <a:graphic>
          <a:graphicData uri="http://schemas.openxmlformats.org/drawingml/2006/table">
            <a:tbl>
              <a:tblPr firstRow="1" bandRow="1">
                <a:tableStyleId>{5C22544A-7EE6-4342-B048-85BDC9FD1C3A}</a:tableStyleId>
              </a:tblPr>
              <a:tblGrid>
                <a:gridCol w="3200400"/>
                <a:gridCol w="2286000"/>
                <a:gridCol w="1097280"/>
                <a:gridCol w="5029200"/>
              </a:tblGrid>
              <a:tr h="274320">
                <a:tc>
                  <a:txBody>
                    <a:bodyPr/>
                    <a:lstStyle/>
                    <a:p>
                      <a:r>
                        <a:rPr sz="1100" b="1">
                          <a:solidFill>
                            <a:srgbClr val="FFFFFF"/>
                          </a:solidFill>
                        </a:rPr>
                        <a:t>术语 (Term)</a:t>
                      </a:r>
                    </a:p>
                  </a:txBody>
                  <a:tcPr>
                    <a:solidFill>
                      <a:srgbClr val="1F4E79"/>
                    </a:solidFill>
                  </a:tcPr>
                </a:tc>
                <a:tc>
                  <a:txBody>
                    <a:bodyPr/>
                    <a:lstStyle/>
                    <a:p>
                      <a:r>
                        <a:rPr sz="1100" b="1">
                          <a:solidFill>
                            <a:srgbClr val="FFFFFF"/>
                          </a:solidFill>
                        </a:rPr>
                        <a:t>标准化</a:t>
                      </a:r>
                    </a:p>
                  </a:txBody>
                  <a:tcPr>
                    <a:solidFill>
                      <a:srgbClr val="1F4E79"/>
                    </a:solidFill>
                  </a:tcPr>
                </a:tc>
                <a:tc>
                  <a:txBody>
                    <a:bodyPr/>
                    <a:lstStyle/>
                    <a:p>
                      <a:r>
                        <a:rPr sz="1100" b="1">
                          <a:solidFill>
                            <a:srgbClr val="FFFFFF"/>
                          </a:solidFill>
                        </a:rPr>
                        <a:t>置信度</a:t>
                      </a:r>
                    </a:p>
                  </a:txBody>
                  <a:tcPr>
                    <a:solidFill>
                      <a:srgbClr val="1F4E79"/>
                    </a:solidFill>
                  </a:tcPr>
                </a:tc>
                <a:tc>
                  <a:txBody>
                    <a:bodyPr/>
                    <a:lstStyle/>
                    <a:p>
                      <a:r>
                        <a:rPr sz="1100" b="1">
                          <a:solidFill>
                            <a:srgbClr val="FFFFFF"/>
                          </a:solidFill>
                        </a:rPr>
                        <a:t>证据文本 (Evidence)</a:t>
                      </a:r>
                    </a:p>
                  </a:txBody>
                  <a:tcPr>
                    <a:solidFill>
                      <a:srgbClr val="1F4E79"/>
                    </a:solidFill>
                  </a:tcPr>
                </a:tc>
              </a:tr>
              <a:tr h="274320">
                <a:tc>
                  <a:txBody>
                    <a:bodyPr/>
                    <a:lstStyle/>
                    <a:p>
                      <a:r>
                        <a:rPr sz="1000"/>
                        <a:t>Fenton-like catalysis</a:t>
                      </a:r>
                    </a:p>
                  </a:txBody>
                  <a:tcPr/>
                </a:tc>
                <a:tc>
                  <a:txBody>
                    <a:bodyPr/>
                    <a:lstStyle/>
                    <a:p>
                      <a:r>
                        <a:rPr sz="1000"/>
                        <a:t>类芬顿催化</a:t>
                      </a:r>
                    </a:p>
                  </a:txBody>
                  <a:tcPr/>
                </a:tc>
                <a:tc>
                  <a:txBody>
                    <a:bodyPr/>
                    <a:lstStyle/>
                    <a:p>
                      <a:r>
                        <a:rPr sz="1000"/>
                        <a:t>0.95</a:t>
                      </a:r>
                    </a:p>
                  </a:txBody>
                  <a:tcPr/>
                </a:tc>
                <a:tc>
                  <a:txBody>
                    <a:bodyPr/>
                    <a:lstStyle/>
                    <a:p>
                      <a:r>
                        <a:rPr sz="1000"/>
                        <a:t>performance in Fenton-like catalysis</a:t>
                      </a:r>
                    </a:p>
                  </a:txBody>
                  <a:tcPr/>
                </a:tc>
              </a:tr>
              <a:tr h="274320">
                <a:tc>
                  <a:txBody>
                    <a:bodyPr/>
                    <a:lstStyle/>
                    <a:p>
                      <a:r>
                        <a:rPr sz="1000"/>
                        <a:t>peroxymonosulfate (PMS)</a:t>
                      </a:r>
                    </a:p>
                  </a:txBody>
                  <a:tcPr/>
                </a:tc>
                <a:tc>
                  <a:txBody>
                    <a:bodyPr/>
                    <a:lstStyle/>
                    <a:p>
                      <a:r>
                        <a:rPr sz="1000"/>
                        <a:t>过一硫酸盐</a:t>
                      </a:r>
                    </a:p>
                  </a:txBody>
                  <a:tcPr/>
                </a:tc>
                <a:tc>
                  <a:txBody>
                    <a:bodyPr/>
                    <a:lstStyle/>
                    <a:p>
                      <a:r>
                        <a:rPr sz="1000"/>
                        <a:t>0.98</a:t>
                      </a:r>
                    </a:p>
                  </a:txBody>
                  <a:tcPr/>
                </a:tc>
                <a:tc>
                  <a:txBody>
                    <a:bodyPr/>
                    <a:lstStyle/>
                    <a:p>
                      <a:r>
                        <a:rPr sz="1000"/>
                        <a:t>PMS-based systems</a:t>
                      </a:r>
                    </a:p>
                  </a:txBody>
                  <a:tcPr/>
                </a:tc>
              </a:tr>
              <a:tr h="274320">
                <a:tc>
                  <a:txBody>
                    <a:bodyPr/>
                    <a:lstStyle/>
                    <a:p>
                      <a:r>
                        <a:rPr sz="1000"/>
                        <a:t>sulfate radicals (SO₄•⁻)</a:t>
                      </a:r>
                    </a:p>
                  </a:txBody>
                  <a:tcPr/>
                </a:tc>
                <a:tc>
                  <a:txBody>
                    <a:bodyPr/>
                    <a:lstStyle/>
                    <a:p>
                      <a:r>
                        <a:rPr sz="1000"/>
                        <a:t>硫酸根自由基</a:t>
                      </a:r>
                    </a:p>
                  </a:txBody>
                  <a:tcPr/>
                </a:tc>
                <a:tc>
                  <a:txBody>
                    <a:bodyPr/>
                    <a:lstStyle/>
                    <a:p>
                      <a:r>
                        <a:rPr sz="1000"/>
                        <a:t>0.97</a:t>
                      </a:r>
                    </a:p>
                  </a:txBody>
                  <a:tcPr/>
                </a:tc>
                <a:tc>
                  <a:txBody>
                    <a:bodyPr/>
                    <a:lstStyle/>
                    <a:p>
                      <a:r>
                        <a:rPr sz="1000"/>
                        <a:t>exclusively generating sulfate radicals</a:t>
                      </a:r>
                    </a:p>
                  </a:txBody>
                  <a:tcPr/>
                </a:tc>
              </a:tr>
              <a:tr h="274320">
                <a:tc>
                  <a:txBody>
                    <a:bodyPr/>
                    <a:lstStyle/>
                    <a:p>
                      <a:r>
                        <a:rPr sz="1000"/>
                        <a:t>reactive oxygen species</a:t>
                      </a:r>
                    </a:p>
                  </a:txBody>
                  <a:tcPr/>
                </a:tc>
                <a:tc>
                  <a:txBody>
                    <a:bodyPr/>
                    <a:lstStyle/>
                    <a:p>
                      <a:r>
                        <a:rPr sz="1000"/>
                        <a:t>活性氧物种</a:t>
                      </a:r>
                    </a:p>
                  </a:txBody>
                  <a:tcPr/>
                </a:tc>
                <a:tc>
                  <a:txBody>
                    <a:bodyPr/>
                    <a:lstStyle/>
                    <a:p>
                      <a:r>
                        <a:rPr sz="1000"/>
                        <a:t>0.96</a:t>
                      </a:r>
                    </a:p>
                  </a:txBody>
                  <a:tcPr/>
                </a:tc>
                <a:tc>
                  <a:txBody>
                    <a:bodyPr/>
                    <a:lstStyle/>
                    <a:p>
                      <a:r>
                        <a:rPr sz="1000"/>
                        <a:t>generate reactive oxygen species</a:t>
                      </a:r>
                    </a:p>
                  </a:txBody>
                  <a:tcPr/>
                </a:tc>
              </a:tr>
              <a:tr h="274320">
                <a:tc>
                  <a:txBody>
                    <a:bodyPr/>
                    <a:lstStyle/>
                    <a:p>
                      <a:r>
                        <a:rPr sz="1000"/>
                        <a:t>acidic conditions</a:t>
                      </a:r>
                    </a:p>
                  </a:txBody>
                  <a:tcPr/>
                </a:tc>
                <a:tc>
                  <a:txBody>
                    <a:bodyPr/>
                    <a:lstStyle/>
                    <a:p>
                      <a:r>
                        <a:rPr sz="1000"/>
                        <a:t>酸性条件</a:t>
                      </a:r>
                    </a:p>
                  </a:txBody>
                  <a:tcPr/>
                </a:tc>
                <a:tc>
                  <a:txBody>
                    <a:bodyPr/>
                    <a:lstStyle/>
                    <a:p>
                      <a:r>
                        <a:rPr sz="1000"/>
                        <a:t>0.95</a:t>
                      </a:r>
                    </a:p>
                  </a:txBody>
                  <a:tcPr/>
                </a:tc>
                <a:tc>
                  <a:txBody>
                    <a:bodyPr/>
                    <a:lstStyle/>
                    <a:p>
                      <a:r>
                        <a:rPr sz="1000"/>
                        <a:t>Under such acidic conditions</a:t>
                      </a:r>
                    </a:p>
                  </a:txBody>
                  <a:tcPr/>
                </a:tc>
              </a:tr>
              <a:tr h="274320">
                <a:tc>
                  <a:txBody>
                    <a:bodyPr/>
                    <a:lstStyle/>
                    <a:p>
                      <a:r>
                        <a:rPr sz="1000"/>
                        <a:t>hydrogen evolution reactions</a:t>
                      </a:r>
                    </a:p>
                  </a:txBody>
                  <a:tcPr/>
                </a:tc>
                <a:tc>
                  <a:txBody>
                    <a:bodyPr/>
                    <a:lstStyle/>
                    <a:p>
                      <a:r>
                        <a:rPr sz="1000"/>
                        <a:t>析氢反应</a:t>
                      </a:r>
                    </a:p>
                  </a:txBody>
                  <a:tcPr/>
                </a:tc>
                <a:tc>
                  <a:txBody>
                    <a:bodyPr/>
                    <a:lstStyle/>
                    <a:p>
                      <a:r>
                        <a:rPr sz="1000"/>
                        <a:t>0.94</a:t>
                      </a:r>
                    </a:p>
                  </a:txBody>
                  <a:tcPr/>
                </a:tc>
                <a:tc>
                  <a:txBody>
                    <a:bodyPr/>
                    <a:lstStyle/>
                    <a:p>
                      <a:r>
                        <a:rPr sz="1000"/>
                        <a:t>hydrogen evolution reactions</a:t>
                      </a:r>
                    </a:p>
                  </a:txBody>
                  <a:tcPr/>
                </a:tc>
              </a:tr>
              <a:tr h="274320">
                <a:tc>
                  <a:txBody>
                    <a:bodyPr/>
                    <a:lstStyle/>
                    <a:p>
                      <a:r>
                        <a:rPr sz="1000"/>
                        <a:t>oxygen vacancies</a:t>
                      </a:r>
                    </a:p>
                  </a:txBody>
                  <a:tcPr/>
                </a:tc>
                <a:tc>
                  <a:txBody>
                    <a:bodyPr/>
                    <a:lstStyle/>
                    <a:p>
                      <a:r>
                        <a:rPr sz="1000"/>
                        <a:t>氧空位</a:t>
                      </a:r>
                    </a:p>
                  </a:txBody>
                  <a:tcPr/>
                </a:tc>
                <a:tc>
                  <a:txBody>
                    <a:bodyPr/>
                    <a:lstStyle/>
                    <a:p>
                      <a:r>
                        <a:rPr sz="1000"/>
                        <a:t>0.96</a:t>
                      </a:r>
                    </a:p>
                  </a:txBody>
                  <a:tcPr/>
                </a:tc>
                <a:tc>
                  <a:txBody>
                    <a:bodyPr/>
                    <a:lstStyle/>
                    <a:p>
                      <a:r>
                        <a:rPr sz="1000"/>
                        <a:t>cerium oxide nano-islands with O vacancies</a:t>
                      </a:r>
                    </a:p>
                  </a:txBody>
                  <a:tcPr/>
                </a:tc>
              </a:tr>
              <a:tr h="274320">
                <a:tc>
                  <a:txBody>
                    <a:bodyPr/>
                    <a:lstStyle/>
                    <a:p>
                      <a:r>
                        <a:rPr sz="1000"/>
                        <a:t>catalytic selectivity</a:t>
                      </a:r>
                    </a:p>
                  </a:txBody>
                  <a:tcPr/>
                </a:tc>
                <a:tc>
                  <a:txBody>
                    <a:bodyPr/>
                    <a:lstStyle/>
                    <a:p>
                      <a:r>
                        <a:rPr sz="1000"/>
                        <a:t>催化选择性</a:t>
                      </a:r>
                    </a:p>
                  </a:txBody>
                  <a:tcPr/>
                </a:tc>
                <a:tc>
                  <a:txBody>
                    <a:bodyPr/>
                    <a:lstStyle/>
                    <a:p>
                      <a:r>
                        <a:rPr sz="1000"/>
                        <a:t>0.95</a:t>
                      </a:r>
                    </a:p>
                  </a:txBody>
                  <a:tcPr/>
                </a:tc>
                <a:tc>
                  <a:txBody>
                    <a:bodyPr/>
                    <a:lstStyle/>
                    <a:p>
                      <a:r>
                        <a:rPr sz="1000"/>
                        <a:t>catalytic selectivity issues</a:t>
                      </a:r>
                    </a:p>
                  </a:txBody>
                  <a:tcPr/>
                </a:tc>
              </a:tr>
              <a:tr h="274320">
                <a:tc>
                  <a:txBody>
                    <a:bodyPr/>
                    <a:lstStyle/>
                    <a:p>
                      <a:r>
                        <a:rPr sz="1000"/>
                        <a:t>electron transfer</a:t>
                      </a:r>
                    </a:p>
                  </a:txBody>
                  <a:tcPr/>
                </a:tc>
                <a:tc>
                  <a:txBody>
                    <a:bodyPr/>
                    <a:lstStyle/>
                    <a:p>
                      <a:r>
                        <a:rPr sz="1000"/>
                        <a:t>电子转移</a:t>
                      </a:r>
                    </a:p>
                  </a:txBody>
                  <a:tcPr/>
                </a:tc>
                <a:tc>
                  <a:txBody>
                    <a:bodyPr/>
                    <a:lstStyle/>
                    <a:p>
                      <a:r>
                        <a:rPr sz="1000"/>
                        <a:t>0.92</a:t>
                      </a:r>
                    </a:p>
                  </a:txBody>
                  <a:tcPr/>
                </a:tc>
                <a:tc>
                  <a:txBody>
                    <a:bodyPr/>
                    <a:lstStyle/>
                    <a:p>
                      <a:r>
                        <a:rPr sz="1000"/>
                        <a:t>weakening their bond with support</a:t>
                      </a:r>
                    </a:p>
                  </a:txBody>
                  <a:tcPr/>
                </a:tc>
              </a:tr>
            </a:tbl>
          </a:graphicData>
        </a:graphic>
      </p:graphicFrame>
      <p:sp>
        <p:nvSpPr>
          <p:cNvPr id="4" name="Rectangle 3"/>
          <p:cNvSpPr/>
          <p:nvPr/>
        </p:nvSpPr>
        <p:spPr>
          <a:xfrm>
            <a:off x="274320" y="4754880"/>
            <a:ext cx="11612880" cy="137160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300" b="1">
                <a:solidFill>
                  <a:srgbClr val="548235"/>
                </a:solidFill>
              </a:rPr>
              <a:t>辅学科概念 (10个)</a:t>
            </a:r>
          </a:p>
          <a:p>
            <a:pPr>
              <a:spcBef>
                <a:spcPts val="400"/>
              </a:spcBef>
            </a:pPr>
            <a:r>
              <a:rPr sz="1100">
                <a:solidFill>
                  <a:srgbClr val="333333"/>
                </a:solidFill>
              </a:rPr>
              <a:t>材料科学 (5个): nano-island encapsulated (0.98), ZnO nanoparticles (0.97), Co single atoms (0.96), ...
环境科学 (5个): recalcitrant pollutants (0.97), low-toxicity decontamination (0.95), ...
全库平均: 15.6 ± 2.9 个概念/篇 | 本篇: 22个概念, 平均置信度 0.95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3: 跨学科关系抽取 (8条)</a:t>
            </a:r>
          </a:p>
        </p:txBody>
      </p:sp>
      <p:graphicFrame>
        <p:nvGraphicFramePr>
          <p:cNvPr id="3" name="Table 2"/>
          <p:cNvGraphicFramePr>
            <a:graphicFrameLocks noGrp="1"/>
          </p:cNvGraphicFramePr>
          <p:nvPr/>
        </p:nvGraphicFramePr>
        <p:xfrm>
          <a:off x="274320" y="914400"/>
          <a:ext cx="11612880" cy="1920240"/>
        </p:xfrm>
        <a:graphic>
          <a:graphicData uri="http://schemas.openxmlformats.org/drawingml/2006/table">
            <a:tbl>
              <a:tblPr firstRow="1" bandRow="1">
                <a:tableStyleId>{5C22544A-7EE6-4342-B048-85BDC9FD1C3A}</a:tableStyleId>
              </a:tblPr>
              <a:tblGrid>
                <a:gridCol w="2743200"/>
                <a:gridCol w="1828800"/>
                <a:gridCol w="2560320"/>
                <a:gridCol w="3657600"/>
                <a:gridCol w="822960"/>
              </a:tblGrid>
              <a:tr h="274320">
                <a:tc>
                  <a:txBody>
                    <a:bodyPr/>
                    <a:lstStyle/>
                    <a:p>
                      <a:r>
                        <a:rPr sz="1000" b="1">
                          <a:solidFill>
                            <a:srgbClr val="FFFFFF"/>
                          </a:solidFill>
                        </a:rPr>
                        <a:t>头实体 (Head)</a:t>
                      </a:r>
                    </a:p>
                  </a:txBody>
                  <a:tcPr>
                    <a:solidFill>
                      <a:srgbClr val="ED7D31"/>
                    </a:solidFill>
                  </a:tcPr>
                </a:tc>
                <a:tc>
                  <a:txBody>
                    <a:bodyPr/>
                    <a:lstStyle/>
                    <a:p>
                      <a:r>
                        <a:rPr sz="1000" b="1">
                          <a:solidFill>
                            <a:srgbClr val="FFFFFF"/>
                          </a:solidFill>
                        </a:rPr>
                        <a:t>关系类型</a:t>
                      </a:r>
                    </a:p>
                  </a:txBody>
                  <a:tcPr>
                    <a:solidFill>
                      <a:srgbClr val="ED7D31"/>
                    </a:solidFill>
                  </a:tcPr>
                </a:tc>
                <a:tc>
                  <a:txBody>
                    <a:bodyPr/>
                    <a:lstStyle/>
                    <a:p>
                      <a:r>
                        <a:rPr sz="1000" b="1">
                          <a:solidFill>
                            <a:srgbClr val="FFFFFF"/>
                          </a:solidFill>
                        </a:rPr>
                        <a:t>尾实体 (Tail)</a:t>
                      </a:r>
                    </a:p>
                  </a:txBody>
                  <a:tcPr>
                    <a:solidFill>
                      <a:srgbClr val="ED7D31"/>
                    </a:solidFill>
                  </a:tcPr>
                </a:tc>
                <a:tc>
                  <a:txBody>
                    <a:bodyPr/>
                    <a:lstStyle/>
                    <a:p>
                      <a:r>
                        <a:rPr sz="1000" b="1">
                          <a:solidFill>
                            <a:srgbClr val="FFFFFF"/>
                          </a:solidFill>
                        </a:rPr>
                        <a:t>证据 (Evidence)</a:t>
                      </a:r>
                    </a:p>
                  </a:txBody>
                  <a:tcPr>
                    <a:solidFill>
                      <a:srgbClr val="ED7D31"/>
                    </a:solidFill>
                  </a:tcPr>
                </a:tc>
                <a:tc>
                  <a:txBody>
                    <a:bodyPr/>
                    <a:lstStyle/>
                    <a:p>
                      <a:r>
                        <a:rPr sz="1000" b="1">
                          <a:solidFill>
                            <a:srgbClr val="FFFFFF"/>
                          </a:solidFill>
                        </a:rPr>
                        <a:t>置信度</a:t>
                      </a:r>
                    </a:p>
                  </a:txBody>
                  <a:tcPr>
                    <a:solidFill>
                      <a:srgbClr val="ED7D31"/>
                    </a:solidFill>
                  </a:tcPr>
                </a:tc>
              </a:tr>
              <a:tr h="274320">
                <a:tc>
                  <a:txBody>
                    <a:bodyPr/>
                    <a:lstStyle/>
                    <a:p>
                      <a:r>
                        <a:rPr sz="900"/>
                        <a:t>纳米岛封装 [材料]</a:t>
                      </a:r>
                    </a:p>
                  </a:txBody>
                  <a:tcPr/>
                </a:tc>
                <a:tc>
                  <a:txBody>
                    <a:bodyPr/>
                    <a:lstStyle/>
                    <a:p>
                      <a:r>
                        <a:rPr sz="900" b="1">
                          <a:solidFill>
                            <a:srgbClr val="ED7D31"/>
                          </a:solidFill>
                        </a:rPr>
                        <a:t>method_applied_to</a:t>
                      </a:r>
                    </a:p>
                  </a:txBody>
                  <a:tcPr/>
                </a:tc>
                <a:tc>
                  <a:txBody>
                    <a:bodyPr/>
                    <a:lstStyle/>
                    <a:p>
                      <a:r>
                        <a:rPr sz="900"/>
                        <a:t>钴单原子 [材料]</a:t>
                      </a:r>
                    </a:p>
                  </a:txBody>
                  <a:tcPr/>
                </a:tc>
                <a:tc>
                  <a:txBody>
                    <a:bodyPr/>
                    <a:lstStyle/>
                    <a:p>
                      <a:r>
                        <a:rPr sz="900"/>
                        <a:t>ZnO nanoparticles to confine Co atoms</a:t>
                      </a:r>
                    </a:p>
                  </a:txBody>
                  <a:tcPr/>
                </a:tc>
                <a:tc>
                  <a:txBody>
                    <a:bodyPr/>
                    <a:lstStyle/>
                    <a:p>
                      <a:r>
                        <a:rPr sz="900"/>
                        <a:t>0.97</a:t>
                      </a:r>
                    </a:p>
                  </a:txBody>
                  <a:tcPr/>
                </a:tc>
              </a:tr>
              <a:tr h="274320">
                <a:tc>
                  <a:txBody>
                    <a:bodyPr/>
                    <a:lstStyle/>
                    <a:p>
                      <a:r>
                        <a:rPr sz="900"/>
                        <a:t>活性-稳定性权衡 [化学]</a:t>
                      </a:r>
                    </a:p>
                  </a:txBody>
                  <a:tcPr/>
                </a:tc>
                <a:tc>
                  <a:txBody>
                    <a:bodyPr/>
                    <a:lstStyle/>
                    <a:p>
                      <a:r>
                        <a:rPr sz="900" b="1">
                          <a:solidFill>
                            <a:srgbClr val="ED7D31"/>
                          </a:solidFill>
                        </a:rPr>
                        <a:t>constrains</a:t>
                      </a:r>
                    </a:p>
                  </a:txBody>
                  <a:tcPr/>
                </a:tc>
                <a:tc>
                  <a:txBody>
                    <a:bodyPr/>
                    <a:lstStyle/>
                    <a:p>
                      <a:r>
                        <a:rPr sz="900"/>
                        <a:t>单原子催化剂 [化学]</a:t>
                      </a:r>
                    </a:p>
                  </a:txBody>
                  <a:tcPr/>
                </a:tc>
                <a:tc>
                  <a:txBody>
                    <a:bodyPr/>
                    <a:lstStyle/>
                    <a:p>
                      <a:r>
                        <a:rPr sz="900"/>
                        <a:t>SACs face activity-stability trade-off</a:t>
                      </a:r>
                    </a:p>
                  </a:txBody>
                  <a:tcPr/>
                </a:tc>
                <a:tc>
                  <a:txBody>
                    <a:bodyPr/>
                    <a:lstStyle/>
                    <a:p>
                      <a:r>
                        <a:rPr sz="900"/>
                        <a:t>0.96</a:t>
                      </a:r>
                    </a:p>
                  </a:txBody>
                  <a:tcPr/>
                </a:tc>
              </a:tr>
              <a:tr h="274320">
                <a:tc>
                  <a:txBody>
                    <a:bodyPr/>
                    <a:lstStyle/>
                    <a:p>
                      <a:r>
                        <a:rPr sz="900"/>
                        <a:t>PMS活化 [化学]</a:t>
                      </a:r>
                    </a:p>
                  </a:txBody>
                  <a:tcPr/>
                </a:tc>
                <a:tc>
                  <a:txBody>
                    <a:bodyPr/>
                    <a:lstStyle/>
                    <a:p>
                      <a:r>
                        <a:rPr sz="900" b="1">
                          <a:solidFill>
                            <a:srgbClr val="ED7D31"/>
                          </a:solidFill>
                        </a:rPr>
                        <a:t>corresponds_to</a:t>
                      </a:r>
                    </a:p>
                  </a:txBody>
                  <a:tcPr/>
                </a:tc>
                <a:tc>
                  <a:txBody>
                    <a:bodyPr/>
                    <a:lstStyle/>
                    <a:p>
                      <a:r>
                        <a:rPr sz="900"/>
                        <a:t>硫酸根自由基 [化学]</a:t>
                      </a:r>
                    </a:p>
                  </a:txBody>
                  <a:tcPr/>
                </a:tc>
                <a:tc>
                  <a:txBody>
                    <a:bodyPr/>
                    <a:lstStyle/>
                    <a:p>
                      <a:r>
                        <a:rPr sz="900"/>
                        <a:t>exclusively generating sulfate radicals</a:t>
                      </a:r>
                    </a:p>
                  </a:txBody>
                  <a:tcPr/>
                </a:tc>
                <a:tc>
                  <a:txBody>
                    <a:bodyPr/>
                    <a:lstStyle/>
                    <a:p>
                      <a:r>
                        <a:rPr sz="900"/>
                        <a:t>0.98</a:t>
                      </a:r>
                    </a:p>
                  </a:txBody>
                  <a:tcPr/>
                </a:tc>
              </a:tr>
              <a:tr h="274320">
                <a:tc>
                  <a:txBody>
                    <a:bodyPr/>
                    <a:lstStyle/>
                    <a:p>
                      <a:r>
                        <a:rPr sz="900"/>
                        <a:t>酸性条件 [化学]</a:t>
                      </a:r>
                    </a:p>
                  </a:txBody>
                  <a:tcPr/>
                </a:tc>
                <a:tc>
                  <a:txBody>
                    <a:bodyPr/>
                    <a:lstStyle/>
                    <a:p>
                      <a:r>
                        <a:rPr sz="900" b="1">
                          <a:solidFill>
                            <a:srgbClr val="ED7D31"/>
                          </a:solidFill>
                        </a:rPr>
                        <a:t>constrains</a:t>
                      </a:r>
                    </a:p>
                  </a:txBody>
                  <a:tcPr/>
                </a:tc>
                <a:tc>
                  <a:txBody>
                    <a:bodyPr/>
                    <a:lstStyle/>
                    <a:p>
                      <a:r>
                        <a:rPr sz="900"/>
                        <a:t>活性位点浸出 [化学]</a:t>
                      </a:r>
                    </a:p>
                  </a:txBody>
                  <a:tcPr/>
                </a:tc>
                <a:tc>
                  <a:txBody>
                    <a:bodyPr/>
                    <a:lstStyle/>
                    <a:p>
                      <a:r>
                        <a:rPr sz="900"/>
                        <a:t>acidic conditions, metal centers leaching</a:t>
                      </a:r>
                    </a:p>
                  </a:txBody>
                  <a:tcPr/>
                </a:tc>
                <a:tc>
                  <a:txBody>
                    <a:bodyPr/>
                    <a:lstStyle/>
                    <a:p>
                      <a:r>
                        <a:rPr sz="900"/>
                        <a:t>0.94</a:t>
                      </a:r>
                    </a:p>
                  </a:txBody>
                  <a:tcPr/>
                </a:tc>
              </a:tr>
              <a:tr h="274320">
                <a:tc>
                  <a:txBody>
                    <a:bodyPr/>
                    <a:lstStyle/>
                    <a:p>
                      <a:r>
                        <a:rPr sz="900"/>
                        <a:t>复杂水矩阵 [环境]</a:t>
                      </a:r>
                    </a:p>
                  </a:txBody>
                  <a:tcPr/>
                </a:tc>
                <a:tc>
                  <a:txBody>
                    <a:bodyPr/>
                    <a:lstStyle/>
                    <a:p>
                      <a:r>
                        <a:rPr sz="900" b="1">
                          <a:solidFill>
                            <a:srgbClr val="ED7D31"/>
                          </a:solidFill>
                        </a:rPr>
                        <a:t>constrains</a:t>
                      </a:r>
                    </a:p>
                  </a:txBody>
                  <a:tcPr/>
                </a:tc>
                <a:tc>
                  <a:txBody>
                    <a:bodyPr/>
                    <a:lstStyle/>
                    <a:p>
                      <a:r>
                        <a:rPr sz="900"/>
                        <a:t>污染物降解 [环境]</a:t>
                      </a:r>
                    </a:p>
                  </a:txBody>
                  <a:tcPr/>
                </a:tc>
                <a:tc>
                  <a:txBody>
                    <a:bodyPr/>
                    <a:lstStyle/>
                    <a:p>
                      <a:r>
                        <a:rPr sz="900"/>
                        <a:t>efficient in complex water matrices</a:t>
                      </a:r>
                    </a:p>
                  </a:txBody>
                  <a:tcPr/>
                </a:tc>
                <a:tc>
                  <a:txBody>
                    <a:bodyPr/>
                    <a:lstStyle/>
                    <a:p>
                      <a:r>
                        <a:rPr sz="900"/>
                        <a:t>0.93</a:t>
                      </a:r>
                    </a:p>
                  </a:txBody>
                  <a:tcPr/>
                </a:tc>
              </a:tr>
              <a:tr h="274320">
                <a:tc>
                  <a:txBody>
                    <a:bodyPr/>
                    <a:lstStyle/>
                    <a:p>
                      <a:r>
                        <a:rPr sz="900"/>
                        <a:t>纳米岛系统 [材料]</a:t>
                      </a:r>
                    </a:p>
                  </a:txBody>
                  <a:tcPr/>
                </a:tc>
                <a:tc>
                  <a:txBody>
                    <a:bodyPr/>
                    <a:lstStyle/>
                    <a:p>
                      <a:r>
                        <a:rPr sz="900" b="1">
                          <a:solidFill>
                            <a:srgbClr val="ED7D31"/>
                          </a:solidFill>
                        </a:rPr>
                        <a:t>improves_metric</a:t>
                      </a:r>
                    </a:p>
                  </a:txBody>
                  <a:tcPr/>
                </a:tc>
                <a:tc>
                  <a:txBody>
                    <a:bodyPr/>
                    <a:lstStyle/>
                    <a:p>
                      <a:r>
                        <a:rPr sz="900"/>
                        <a:t>析氢反应 [化学]</a:t>
                      </a:r>
                    </a:p>
                  </a:txBody>
                  <a:tcPr/>
                </a:tc>
                <a:tc>
                  <a:txBody>
                    <a:bodyPr/>
                    <a:lstStyle/>
                    <a:p>
                      <a:r>
                        <a:rPr sz="900"/>
                        <a:t>nano-islands boosting HER</a:t>
                      </a:r>
                    </a:p>
                  </a:txBody>
                  <a:tcPr/>
                </a:tc>
                <a:tc>
                  <a:txBody>
                    <a:bodyPr/>
                    <a:lstStyle/>
                    <a:p>
                      <a:r>
                        <a:rPr sz="900"/>
                        <a:t>0.91</a:t>
                      </a:r>
                    </a:p>
                  </a:txBody>
                  <a:tcPr/>
                </a:tc>
              </a:tr>
            </a:tbl>
          </a:graphicData>
        </a:graphic>
      </p:graphicFrame>
      <p:sp>
        <p:nvSpPr>
          <p:cNvPr id="4" name="Rectangle 3"/>
          <p:cNvSpPr/>
          <p:nvPr/>
        </p:nvSpPr>
        <p:spPr>
          <a:xfrm>
            <a:off x="274320" y="4114800"/>
            <a:ext cx="11612880" cy="109728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300" b="1">
                <a:solidFill>
                  <a:srgbClr val="ED7D31"/>
                </a:solidFill>
              </a:rPr>
              <a:t>12种关系类型 | 全库: 8.1±1.3 条/篇, 共765条</a:t>
            </a:r>
          </a:p>
          <a:p>
            <a:pPr>
              <a:spcBef>
                <a:spcPts val="400"/>
              </a:spcBef>
            </a:pPr>
            <a:r>
              <a:rPr sz="1100">
                <a:solidFill>
                  <a:srgbClr val="333333"/>
                </a:solidFill>
              </a:rPr>
              <a:t>method_applied_to (29.4%) | improves_metric (21.7%) | constrains (13.6%) | maps_to (8.1%)
corresponds_to (6.3%) | depends_on (5.4%) | driven_by (5.0%) | extends (4.2%) | other (6.4%)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4: 分层查询生成 (L1/L2/L3)</a:t>
            </a:r>
          </a:p>
        </p:txBody>
      </p:sp>
      <p:sp>
        <p:nvSpPr>
          <p:cNvPr id="3" name="Rectangle 2"/>
          <p:cNvSpPr/>
          <p:nvPr/>
        </p:nvSpPr>
        <p:spPr>
          <a:xfrm>
            <a:off x="274320" y="914400"/>
            <a:ext cx="11612880" cy="118872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1F4E79"/>
                </a:solidFill>
              </a:rPr>
              <a:t>L1 宏观查询 — 学科间桥接</a:t>
            </a:r>
          </a:p>
          <a:p>
            <a:pPr>
              <a:spcBef>
                <a:spcPts val="400"/>
              </a:spcBef>
            </a:pPr>
            <a:r>
              <a:rPr sz="1300">
                <a:solidFill>
                  <a:srgbClr val="333333"/>
                </a:solidFill>
              </a:rPr>
              <a:t>Q: 类芬顿催化体系中如何突破过一硫酸盐活化效率与催化剂稳定性之间的相互制约？
→ 聚焦核心跨学科贡献: 化学催化效率 vs 材料稳定性</a:t>
            </a:r>
          </a:p>
        </p:txBody>
      </p:sp>
      <p:sp>
        <p:nvSpPr>
          <p:cNvPr id="4" name="Rectangle 3"/>
          <p:cNvSpPr/>
          <p:nvPr/>
        </p:nvSpPr>
        <p:spPr>
          <a:xfrm>
            <a:off x="274320" y="2286000"/>
            <a:ext cx="11612880" cy="137160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548235"/>
                </a:solidFill>
              </a:rPr>
              <a:t>L2 中观查询 — 机制迁移</a:t>
            </a:r>
          </a:p>
          <a:p>
            <a:pPr>
              <a:spcBef>
                <a:spcPts val="400"/>
              </a:spcBef>
            </a:pPr>
            <a:r>
              <a:rPr sz="1300">
                <a:solidFill>
                  <a:srgbClr val="333333"/>
                </a:solidFill>
              </a:rPr>
              <a:t>Q1: 纳米岛封装结构如何通过空间限域效应调控钴单原子的电子态分布？ → 材料结构 → 化学电子态
Q2: 复杂水基质环境对硫酸根自由基主导的污染物降解路径产生何种影响？ → 环境条件 → 化学反应</a:t>
            </a:r>
          </a:p>
        </p:txBody>
      </p:sp>
      <p:sp>
        <p:nvSpPr>
          <p:cNvPr id="5" name="Rectangle 4"/>
          <p:cNvSpPr/>
          <p:nvPr/>
        </p:nvSpPr>
        <p:spPr>
          <a:xfrm>
            <a:off x="274320" y="3840480"/>
            <a:ext cx="11612880" cy="118872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ED7D31"/>
                </a:solidFill>
              </a:rPr>
              <a:t>L3 微观查询 — 可检验预测</a:t>
            </a:r>
          </a:p>
          <a:p>
            <a:pPr>
              <a:spcBef>
                <a:spcPts val="400"/>
              </a:spcBef>
            </a:pPr>
            <a:r>
              <a:rPr sz="1300">
                <a:solidFill>
                  <a:srgbClr val="333333"/>
                </a:solidFill>
              </a:rPr>
              <a:t>Q1: 基于纳米岛封装的单原子催化剂如何协同阴离子交换膜实现酸性条件下的抗金属浸出与持续PMS活化？
Q2: 纳米岛结构催化剂如何平衡析氢副反应抑制与持久性有机污染物的高效降解？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5: L1 宏观假设路径 (学科间桥接)</a:t>
            </a:r>
          </a:p>
        </p:txBody>
      </p:sp>
      <p:sp>
        <p:nvSpPr>
          <p:cNvPr id="3" name="Rectangle 2"/>
          <p:cNvSpPr/>
          <p:nvPr/>
        </p:nvSpPr>
        <p:spPr>
          <a:xfrm>
            <a:off x="274320" y="914400"/>
            <a:ext cx="11612880" cy="182880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路径 1: 活性-稳定性权衡的纳米岛解决方案</a:t>
            </a:r>
          </a:p>
          <a:p>
            <a:pPr>
              <a:spcBef>
                <a:spcPts val="400"/>
              </a:spcBef>
            </a:pPr>
            <a:r>
              <a:rPr sz="1200">
                <a:solidFill>
                  <a:srgbClr val="333333"/>
                </a:solidFill>
              </a:rPr>
              <a:t>Step 1: [化学] 类芬顿催化 ──[面临活性-稳定性权衡制约]─→ 活性-稳定性权衡
Step 2: [跨学科] 活性-稳定性权衡 ──[可通过纳米岛封装调控]─→ 纳米岛封装
Step 3: [材料→化学] 纳米岛封装 ──[协同氧化锌纳米颗粒电子态调控]─→ 钴单原子
✓ 链式一致性: tail₁=head₂ ✓  tail₂=head₃ ✓  |  ✓ 跨学科: 化学 → 材料科学</a:t>
            </a:r>
          </a:p>
        </p:txBody>
      </p:sp>
      <p:sp>
        <p:nvSpPr>
          <p:cNvPr id="4" name="Rectangle 3"/>
          <p:cNvSpPr/>
          <p:nvPr/>
        </p:nvSpPr>
        <p:spPr>
          <a:xfrm>
            <a:off x="274320" y="2926080"/>
            <a:ext cx="5669280" cy="137160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548235"/>
                </a:solidFill>
              </a:rPr>
              <a:t>路径 2: 酸性环境抗浸出设计</a:t>
            </a:r>
          </a:p>
          <a:p>
            <a:pPr>
              <a:spcBef>
                <a:spcPts val="400"/>
              </a:spcBef>
            </a:pPr>
            <a:r>
              <a:rPr sz="1200">
                <a:solidFill>
                  <a:srgbClr val="333333"/>
                </a:solidFill>
              </a:rPr>
              <a:t>Step 1: [化学] 酸性条件 → 活性位点浸出
Step 2: [跨学科] 活性位点浸出 → 纳米岛封装
Step 3: [材料] 纳米岛封装 → 氧空位</a:t>
            </a:r>
          </a:p>
        </p:txBody>
      </p:sp>
      <p:sp>
        <p:nvSpPr>
          <p:cNvPr id="5" name="Rectangle 4"/>
          <p:cNvSpPr/>
          <p:nvPr/>
        </p:nvSpPr>
        <p:spPr>
          <a:xfrm>
            <a:off x="6217920" y="2926080"/>
            <a:ext cx="5669280" cy="137160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ED7D31"/>
                </a:solidFill>
              </a:rPr>
              <a:t>路径 3: 复杂水基质选择性降解</a:t>
            </a:r>
          </a:p>
          <a:p>
            <a:pPr>
              <a:spcBef>
                <a:spcPts val="400"/>
              </a:spcBef>
            </a:pPr>
            <a:r>
              <a:rPr sz="1200">
                <a:solidFill>
                  <a:srgbClr val="333333"/>
                </a:solidFill>
              </a:rPr>
              <a:t>Step 1: [环境] 复杂水基质 → 污染物降解
Step 2: [化学] 污染物降解 → 催化选择性
Step 3: [化学] 催化选择性 → 不饱和配位环境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5: L2 中观 + L3 微观假设路径</a:t>
            </a:r>
          </a:p>
        </p:txBody>
      </p:sp>
      <p:sp>
        <p:nvSpPr>
          <p:cNvPr id="3" name="Rectangle 2"/>
          <p:cNvSpPr/>
          <p:nvPr/>
        </p:nvSpPr>
        <p:spPr>
          <a:xfrm>
            <a:off x="274320" y="914400"/>
            <a:ext cx="5669280" cy="118872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548235"/>
                </a:solidFill>
              </a:rPr>
              <a:t>L2 路径 1: 空间限域 → 配位结构 → 电子转移</a:t>
            </a:r>
          </a:p>
          <a:p>
            <a:pPr>
              <a:spcBef>
                <a:spcPts val="400"/>
              </a:spcBef>
            </a:pPr>
            <a:r>
              <a:rPr sz="1200">
                <a:solidFill>
                  <a:srgbClr val="333333"/>
                </a:solidFill>
              </a:rPr>
              <a:t>纳米岛封装 → 钴单原子 → 不饱和配位环境 → 电子转移
物理机制链: 空间限域效应 → 配位结构变化 → 电子态调控</a:t>
            </a:r>
          </a:p>
        </p:txBody>
      </p:sp>
      <p:sp>
        <p:nvSpPr>
          <p:cNvPr id="4" name="Rectangle 3"/>
          <p:cNvSpPr/>
          <p:nvPr/>
        </p:nvSpPr>
        <p:spPr>
          <a:xfrm>
            <a:off x="6217920" y="914400"/>
            <a:ext cx="5669280" cy="118872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548235"/>
                </a:solidFill>
              </a:rPr>
              <a:t>L2 路径 2: 水基质 → 自由基 → 污染物降解</a:t>
            </a:r>
          </a:p>
          <a:p>
            <a:pPr>
              <a:spcBef>
                <a:spcPts val="400"/>
              </a:spcBef>
            </a:pPr>
            <a:r>
              <a:rPr sz="1200">
                <a:solidFill>
                  <a:srgbClr val="333333"/>
                </a:solidFill>
              </a:rPr>
              <a:t>复杂水基质 → 硫酸根自由基 → 污染物降解 → 持久性有机污染物
化学-环境链: 环境干扰 → 反应活性种 → 最终降解效果</a:t>
            </a:r>
          </a:p>
        </p:txBody>
      </p:sp>
      <p:sp>
        <p:nvSpPr>
          <p:cNvPr id="5" name="Rectangle 4"/>
          <p:cNvSpPr/>
          <p:nvPr/>
        </p:nvSpPr>
        <p:spPr>
          <a:xfrm>
            <a:off x="274320" y="2377440"/>
            <a:ext cx="5669280" cy="137160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ED7D31"/>
                </a:solidFill>
              </a:rPr>
              <a:t>L3 路径 1: 封装 → 电子转移 → PMS活化 (可操作实验)</a:t>
            </a:r>
          </a:p>
          <a:p>
            <a:pPr>
              <a:spcBef>
                <a:spcPts val="400"/>
              </a:spcBef>
            </a:pPr>
            <a:r>
              <a:rPr sz="1200">
                <a:solidFill>
                  <a:srgbClr val="333333"/>
                </a:solidFill>
              </a:rPr>
              <a:t>纳米岛封装 → 钴单原子 → 电子转移 → 过一硫酸盐
可检验预测: 调控封装层厚度 → 测量电子转移速率 → 验证PMS活化效率</a:t>
            </a:r>
          </a:p>
        </p:txBody>
      </p:sp>
      <p:sp>
        <p:nvSpPr>
          <p:cNvPr id="6" name="Rectangle 5"/>
          <p:cNvSpPr/>
          <p:nvPr/>
        </p:nvSpPr>
        <p:spPr>
          <a:xfrm>
            <a:off x="6217920" y="2377440"/>
            <a:ext cx="5669280" cy="137160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ED7D31"/>
                </a:solidFill>
              </a:rPr>
              <a:t>L3 路径 2: 电荷分离 → HER抑制 → POPs降解</a:t>
            </a:r>
          </a:p>
          <a:p>
            <a:pPr>
              <a:spcBef>
                <a:spcPts val="400"/>
              </a:spcBef>
            </a:pPr>
            <a:r>
              <a:rPr sz="1200">
                <a:solidFill>
                  <a:srgbClr val="333333"/>
                </a:solidFill>
              </a:rPr>
              <a:t>复杂水基质 → 电荷分离 → 析氢反应 → 持久性有机污染物
可检验预测: 不同离子浓度下 HER副反应速率 vs POPs降解效率</a:t>
            </a:r>
          </a:p>
        </p:txBody>
      </p:sp>
      <p:sp>
        <p:nvSpPr>
          <p:cNvPr id="7" name="Rectangle 6"/>
          <p:cNvSpPr/>
          <p:nvPr/>
        </p:nvSpPr>
        <p:spPr>
          <a:xfrm>
            <a:off x="274320" y="4023360"/>
            <a:ext cx="11612880" cy="14630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深度对比: L1 vs L2 vs L3</a:t>
            </a:r>
          </a:p>
          <a:p>
            <a:pPr>
              <a:spcBef>
                <a:spcPts val="400"/>
              </a:spcBef>
            </a:pPr>
            <a:r>
              <a:rPr sz="1200">
                <a:solidFill>
                  <a:srgbClr val="333333"/>
                </a:solidFill>
              </a:rPr>
              <a:t>L1: 桥接=1.00 | 科学性=6.92 | 概念扩展=—
L2: 桥接=0.89 | 科学性=7.92 | 概念扩展=26.8%
L3: 桥接=0.76 | 科学性=7.45 | 概念扩展=47.2%
→ L1桥接最强, L2科学性最高, L3概念扩展最大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6: 知识图谱构建 + 质量指标</a:t>
            </a:r>
          </a:p>
        </p:txBody>
      </p:sp>
      <p:graphicFrame>
        <p:nvGraphicFramePr>
          <p:cNvPr id="3" name="Table 2"/>
          <p:cNvGraphicFramePr>
            <a:graphicFrameLocks noGrp="1"/>
          </p:cNvGraphicFramePr>
          <p:nvPr/>
        </p:nvGraphicFramePr>
        <p:xfrm>
          <a:off x="274320" y="914400"/>
          <a:ext cx="7315200" cy="2240279"/>
        </p:xfrm>
        <a:graphic>
          <a:graphicData uri="http://schemas.openxmlformats.org/drawingml/2006/table">
            <a:tbl>
              <a:tblPr firstRow="1" bandRow="1">
                <a:tableStyleId>{5C22544A-7EE6-4342-B048-85BDC9FD1C3A}</a:tableStyleId>
              </a:tblPr>
              <a:tblGrid>
                <a:gridCol w="1463040"/>
                <a:gridCol w="1463040"/>
                <a:gridCol w="1463040"/>
                <a:gridCol w="1463040"/>
                <a:gridCol w="1463040"/>
              </a:tblGrid>
              <a:tr h="320039">
                <a:tc>
                  <a:txBody>
                    <a:bodyPr/>
                    <a:lstStyle/>
                    <a:p>
                      <a:r>
                        <a:rPr sz="1000" b="1">
                          <a:solidFill>
                            <a:srgbClr val="FFFFFF"/>
                          </a:solidFill>
                        </a:rPr>
                        <a:t>类别</a:t>
                      </a:r>
                    </a:p>
                  </a:txBody>
                  <a:tcPr>
                    <a:solidFill>
                      <a:srgbClr val="1F4E79"/>
                    </a:solidFill>
                  </a:tcPr>
                </a:tc>
                <a:tc>
                  <a:txBody>
                    <a:bodyPr/>
                    <a:lstStyle/>
                    <a:p>
                      <a:r>
                        <a:rPr sz="1000" b="1">
                          <a:solidFill>
                            <a:srgbClr val="FFFFFF"/>
                          </a:solidFill>
                        </a:rPr>
                        <a:t>指标</a:t>
                      </a:r>
                    </a:p>
                  </a:txBody>
                  <a:tcPr>
                    <a:solidFill>
                      <a:srgbClr val="1F4E79"/>
                    </a:solidFill>
                  </a:tcPr>
                </a:tc>
                <a:tc>
                  <a:txBody>
                    <a:bodyPr/>
                    <a:lstStyle/>
                    <a:p>
                      <a:r>
                        <a:rPr sz="1000" b="1">
                          <a:solidFill>
                            <a:srgbClr val="FFFFFF"/>
                          </a:solidFill>
                        </a:rPr>
                        <a:t>本篇值</a:t>
                      </a:r>
                    </a:p>
                  </a:txBody>
                  <a:tcPr>
                    <a:solidFill>
                      <a:srgbClr val="1F4E79"/>
                    </a:solidFill>
                  </a:tcPr>
                </a:tc>
                <a:tc>
                  <a:txBody>
                    <a:bodyPr/>
                    <a:lstStyle/>
                    <a:p>
                      <a:r>
                        <a:rPr sz="1000" b="1">
                          <a:solidFill>
                            <a:srgbClr val="FFFFFF"/>
                          </a:solidFill>
                        </a:rPr>
                        <a:t>指标</a:t>
                      </a:r>
                    </a:p>
                  </a:txBody>
                  <a:tcPr>
                    <a:solidFill>
                      <a:srgbClr val="1F4E79"/>
                    </a:solidFill>
                  </a:tcPr>
                </a:tc>
                <a:tc>
                  <a:txBody>
                    <a:bodyPr/>
                    <a:lstStyle/>
                    <a:p>
                      <a:r>
                        <a:rPr sz="1000" b="1">
                          <a:solidFill>
                            <a:srgbClr val="FFFFFF"/>
                          </a:solidFill>
                        </a:rPr>
                        <a:t>本篇值</a:t>
                      </a:r>
                    </a:p>
                  </a:txBody>
                  <a:tcPr>
                    <a:solidFill>
                      <a:srgbClr val="1F4E79"/>
                    </a:solidFill>
                  </a:tcPr>
                </a:tc>
              </a:tr>
              <a:tr h="320039">
                <a:tc>
                  <a:txBody>
                    <a:bodyPr/>
                    <a:lstStyle/>
                    <a:p>
                      <a:r>
                        <a:rPr sz="1000"/>
                        <a:t>核心质量</a:t>
                      </a:r>
                    </a:p>
                  </a:txBody>
                  <a:tcPr/>
                </a:tc>
                <a:tc>
                  <a:txBody>
                    <a:bodyPr/>
                    <a:lstStyle/>
                    <a:p>
                      <a:r>
                        <a:rPr sz="1000"/>
                        <a:t>路径一致性</a:t>
                      </a:r>
                    </a:p>
                  </a:txBody>
                  <a:tcPr/>
                </a:tc>
                <a:tc>
                  <a:txBody>
                    <a:bodyPr/>
                    <a:lstStyle/>
                    <a:p>
                      <a:r>
                        <a:rPr sz="1000"/>
                        <a:t>0.048</a:t>
                      </a:r>
                    </a:p>
                  </a:txBody>
                  <a:tcPr/>
                </a:tc>
                <a:tc>
                  <a:txBody>
                    <a:bodyPr/>
                    <a:lstStyle/>
                    <a:p>
                      <a:r>
                        <a:rPr sz="1000"/>
                        <a:t>覆盖率</a:t>
                      </a:r>
                    </a:p>
                  </a:txBody>
                  <a:tcPr/>
                </a:tc>
                <a:tc>
                  <a:txBody>
                    <a:bodyPr/>
                    <a:lstStyle/>
                    <a:p>
                      <a:r>
                        <a:rPr sz="1000"/>
                        <a:t>0.531</a:t>
                      </a:r>
                    </a:p>
                  </a:txBody>
                  <a:tcPr/>
                </a:tc>
              </a:tr>
              <a:tr h="320039">
                <a:tc>
                  <a:txBody>
                    <a:bodyPr/>
                    <a:lstStyle/>
                    <a:p>
                      <a:r>
                        <a:rPr sz="1000"/>
                        <a:t>核心质量</a:t>
                      </a:r>
                    </a:p>
                  </a:txBody>
                  <a:tcPr/>
                </a:tc>
                <a:tc>
                  <a:txBody>
                    <a:bodyPr/>
                    <a:lstStyle/>
                    <a:p>
                      <a:r>
                        <a:rPr sz="1000"/>
                        <a:t>跨学科桥接</a:t>
                      </a:r>
                    </a:p>
                  </a:txBody>
                  <a:tcPr/>
                </a:tc>
                <a:tc>
                  <a:txBody>
                    <a:bodyPr/>
                    <a:lstStyle/>
                    <a:p>
                      <a:r>
                        <a:rPr sz="1000"/>
                        <a:t>0.292</a:t>
                      </a:r>
                    </a:p>
                  </a:txBody>
                  <a:tcPr/>
                </a:tc>
                <a:tc>
                  <a:txBody>
                    <a:bodyPr/>
                    <a:lstStyle/>
                    <a:p>
                      <a:r>
                        <a:rPr sz="1000"/>
                        <a:t>链式连贯性</a:t>
                      </a:r>
                    </a:p>
                  </a:txBody>
                  <a:tcPr/>
                </a:tc>
                <a:tc>
                  <a:txBody>
                    <a:bodyPr/>
                    <a:lstStyle/>
                    <a:p>
                      <a:r>
                        <a:rPr sz="1000"/>
                        <a:t>0.541</a:t>
                      </a:r>
                    </a:p>
                  </a:txBody>
                  <a:tcPr/>
                </a:tc>
              </a:tr>
              <a:tr h="320039">
                <a:tc>
                  <a:txBody>
                    <a:bodyPr/>
                    <a:lstStyle/>
                    <a:p>
                      <a:r>
                        <a:rPr sz="1000"/>
                        <a:t>多样性</a:t>
                      </a:r>
                    </a:p>
                  </a:txBody>
                  <a:tcPr/>
                </a:tc>
                <a:tc>
                  <a:txBody>
                    <a:bodyPr/>
                    <a:lstStyle/>
                    <a:p>
                      <a:r>
                        <a:rPr sz="1000"/>
                        <a:t>Rao-Stirling</a:t>
                      </a:r>
                    </a:p>
                  </a:txBody>
                  <a:tcPr/>
                </a:tc>
                <a:tc>
                  <a:txBody>
                    <a:bodyPr/>
                    <a:lstStyle/>
                    <a:p>
                      <a:r>
                        <a:rPr sz="1000"/>
                        <a:t>0.151</a:t>
                      </a:r>
                    </a:p>
                  </a:txBody>
                  <a:tcPr/>
                </a:tc>
                <a:tc>
                  <a:txBody>
                    <a:bodyPr/>
                    <a:lstStyle/>
                    <a:p>
                      <a:r>
                        <a:rPr sz="1000"/>
                        <a:t>嵌入桥接</a:t>
                      </a:r>
                    </a:p>
                  </a:txBody>
                  <a:tcPr/>
                </a:tc>
                <a:tc>
                  <a:txBody>
                    <a:bodyPr/>
                    <a:lstStyle/>
                    <a:p>
                      <a:r>
                        <a:rPr sz="1000"/>
                        <a:t>1.000</a:t>
                      </a:r>
                    </a:p>
                  </a:txBody>
                  <a:tcPr/>
                </a:tc>
              </a:tr>
              <a:tr h="320039">
                <a:tc>
                  <a:txBody>
                    <a:bodyPr/>
                    <a:lstStyle/>
                    <a:p>
                      <a:r>
                        <a:rPr sz="1000"/>
                        <a:t>多样性</a:t>
                      </a:r>
                    </a:p>
                  </a:txBody>
                  <a:tcPr/>
                </a:tc>
                <a:tc>
                  <a:txBody>
                    <a:bodyPr/>
                    <a:lstStyle/>
                    <a:p>
                      <a:r>
                        <a:rPr sz="1000"/>
                        <a:t>非典型组合</a:t>
                      </a:r>
                    </a:p>
                  </a:txBody>
                  <a:tcPr/>
                </a:tc>
                <a:tc>
                  <a:txBody>
                    <a:bodyPr/>
                    <a:lstStyle/>
                    <a:p>
                      <a:r>
                        <a:rPr sz="1000"/>
                        <a:t>0.559</a:t>
                      </a:r>
                    </a:p>
                  </a:txBody>
                  <a:tcPr/>
                </a:tc>
                <a:tc>
                  <a:txBody>
                    <a:bodyPr/>
                    <a:lstStyle/>
                    <a:p/>
                  </a:txBody>
                  <a:tcPr/>
                </a:tc>
                <a:tc>
                  <a:txBody>
                    <a:bodyPr/>
                    <a:lstStyle/>
                    <a:p/>
                  </a:txBody>
                  <a:tcPr/>
                </a:tc>
              </a:tr>
              <a:tr h="320039">
                <a:tc>
                  <a:txBody>
                    <a:bodyPr/>
                    <a:lstStyle/>
                    <a:p>
                      <a:r>
                        <a:rPr sz="1000"/>
                        <a:t>拓扑</a:t>
                      </a:r>
                    </a:p>
                  </a:txBody>
                  <a:tcPr/>
                </a:tc>
                <a:tc>
                  <a:txBody>
                    <a:bodyPr/>
                    <a:lstStyle/>
                    <a:p>
                      <a:r>
                        <a:rPr sz="1000"/>
                        <a:t>图密度</a:t>
                      </a:r>
                    </a:p>
                  </a:txBody>
                  <a:tcPr/>
                </a:tc>
                <a:tc>
                  <a:txBody>
                    <a:bodyPr/>
                    <a:lstStyle/>
                    <a:p>
                      <a:r>
                        <a:rPr sz="1000"/>
                        <a:t>0.026</a:t>
                      </a:r>
                    </a:p>
                  </a:txBody>
                  <a:tcPr/>
                </a:tc>
                <a:tc>
                  <a:txBody>
                    <a:bodyPr/>
                    <a:lstStyle/>
                    <a:p>
                      <a:r>
                        <a:rPr sz="1000"/>
                        <a:t>聚类系数</a:t>
                      </a:r>
                    </a:p>
                  </a:txBody>
                  <a:tcPr/>
                </a:tc>
                <a:tc>
                  <a:txBody>
                    <a:bodyPr/>
                    <a:lstStyle/>
                    <a:p>
                      <a:r>
                        <a:rPr sz="1000"/>
                        <a:t>0.050</a:t>
                      </a:r>
                    </a:p>
                  </a:txBody>
                  <a:tcPr/>
                </a:tc>
              </a:tr>
              <a:tr h="320045">
                <a:tc>
                  <a:txBody>
                    <a:bodyPr/>
                    <a:lstStyle/>
                    <a:p>
                      <a:r>
                        <a:rPr sz="1000"/>
                        <a:t>拓扑</a:t>
                      </a:r>
                    </a:p>
                  </a:txBody>
                  <a:tcPr/>
                </a:tc>
                <a:tc>
                  <a:txBody>
                    <a:bodyPr/>
                    <a:lstStyle/>
                    <a:p>
                      <a:r>
                        <a:rPr sz="1000"/>
                        <a:t>最大CC比</a:t>
                      </a:r>
                    </a:p>
                  </a:txBody>
                  <a:tcPr/>
                </a:tc>
                <a:tc>
                  <a:txBody>
                    <a:bodyPr/>
                    <a:lstStyle/>
                    <a:p>
                      <a:r>
                        <a:rPr sz="1000"/>
                        <a:t>0.719</a:t>
                      </a:r>
                    </a:p>
                  </a:txBody>
                  <a:tcPr/>
                </a:tc>
                <a:tc>
                  <a:txBody>
                    <a:bodyPr/>
                    <a:lstStyle/>
                    <a:p>
                      <a:r>
                        <a:rPr sz="1000"/>
                        <a:t>介数中心性</a:t>
                      </a:r>
                    </a:p>
                  </a:txBody>
                  <a:tcPr/>
                </a:tc>
                <a:tc>
                  <a:txBody>
                    <a:bodyPr/>
                    <a:lstStyle/>
                    <a:p>
                      <a:r>
                        <a:rPr sz="1000"/>
                        <a:t>0.050</a:t>
                      </a:r>
                    </a:p>
                  </a:txBody>
                  <a:tcPr/>
                </a:tc>
              </a:tr>
            </a:tbl>
          </a:graphicData>
        </a:graphic>
      </p:graphicFrame>
      <p:sp>
        <p:nvSpPr>
          <p:cNvPr id="4" name="Rectangle 3"/>
          <p:cNvSpPr/>
          <p:nvPr/>
        </p:nvSpPr>
        <p:spPr>
          <a:xfrm>
            <a:off x="274320" y="3840480"/>
            <a:ext cx="11612880" cy="91440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全库统计 (94篇)</a:t>
            </a:r>
          </a:p>
          <a:p>
            <a:pPr>
              <a:spcBef>
                <a:spcPts val="400"/>
              </a:spcBef>
            </a:pPr>
            <a:r>
              <a:rPr sz="1200">
                <a:solidFill>
                  <a:srgbClr val="333333"/>
                </a:solidFill>
              </a:rPr>
              <a:t>平均节点: 28.8±6.0 | 平均边: 27.1±2.9 | 图密度: 0.076±0.030
链式连贯性: 0.580±0.052 | 覆盖率: 0.481±0.133 | 桥接: 0.390±0.180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7: Benchmark GT 数据集构建 (三阶段)</a:t>
            </a:r>
          </a:p>
        </p:txBody>
      </p:sp>
      <p:sp>
        <p:nvSpPr>
          <p:cNvPr id="3" name="Rectangle 2"/>
          <p:cNvSpPr/>
          <p:nvPr/>
        </p:nvSpPr>
        <p:spPr>
          <a:xfrm>
            <a:off x="274320" y="914400"/>
            <a:ext cx="3657600" cy="1828800"/>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Stage 1: 约束性术语抽取</a:t>
            </a:r>
          </a:p>
          <a:p>
            <a:pPr>
              <a:spcBef>
                <a:spcPts val="400"/>
              </a:spcBef>
            </a:pPr>
            <a:r>
              <a:rPr sz="1200">
                <a:solidFill>
                  <a:srgbClr val="333333"/>
                </a:solidFill>
              </a:rPr>
              <a:t>输入: 概念列表 + 摘要 + 分类体系
输出: 30 个 GT 术语
示例: single-atom catalysts → 化学 (0.99)
        nano-island encapsulated → 材料科学 (0.98)</a:t>
            </a:r>
          </a:p>
        </p:txBody>
      </p:sp>
      <p:sp>
        <p:nvSpPr>
          <p:cNvPr id="4" name="Rectangle 3"/>
          <p:cNvSpPr/>
          <p:nvPr/>
        </p:nvSpPr>
        <p:spPr>
          <a:xfrm>
            <a:off x="4206240" y="914400"/>
            <a:ext cx="3657600" cy="1828800"/>
          </a:xfrm>
          <a:prstGeom prst="rect">
            <a:avLst/>
          </a:prstGeom>
          <a:solidFill>
            <a:srgbClr val="E8F5E9"/>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548235"/>
                </a:solidFill>
              </a:rPr>
              <a:t>Stage 2: 基于证据的关系构建</a:t>
            </a:r>
          </a:p>
          <a:p>
            <a:pPr>
              <a:spcBef>
                <a:spcPts val="400"/>
              </a:spcBef>
            </a:pPr>
            <a:r>
              <a:rPr sz="1200">
                <a:solidFill>
                  <a:srgbClr val="333333"/>
                </a:solidFill>
              </a:rPr>
              <a:t>输入: GT术语 + 摘要句子
输出: 9 条 GT 关系
示例: (纳米岛封装, method_applied_to,
          钴单原子)</a:t>
            </a:r>
          </a:p>
        </p:txBody>
      </p:sp>
      <p:sp>
        <p:nvSpPr>
          <p:cNvPr id="5" name="Rectangle 4"/>
          <p:cNvSpPr/>
          <p:nvPr/>
        </p:nvSpPr>
        <p:spPr>
          <a:xfrm>
            <a:off x="8138160" y="914400"/>
            <a:ext cx="3657600" cy="1828800"/>
          </a:xfrm>
          <a:prstGeom prst="rect">
            <a:avLst/>
          </a:prstGeom>
          <a:solidFill>
            <a:srgbClr val="FEF0E8"/>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ED7D31"/>
                </a:solidFill>
              </a:rPr>
              <a:t>Stage 3: 跨学科路径构建</a:t>
            </a:r>
          </a:p>
          <a:p>
            <a:pPr>
              <a:spcBef>
                <a:spcPts val="400"/>
              </a:spcBef>
            </a:pPr>
            <a:r>
              <a:rPr sz="1200">
                <a:solidFill>
                  <a:srgbClr val="333333"/>
                </a:solidFill>
              </a:rPr>
              <a:t>输入: GT节点 + GT边
输出: Top-K 跨学科路径
方法: 枚举所有 φ(u)≠φ(v)
简单路径 (长度≤4)</a:t>
            </a:r>
          </a:p>
        </p:txBody>
      </p:sp>
      <p:sp>
        <p:nvSpPr>
          <p:cNvPr id="6" name="Rectangle 5"/>
          <p:cNvSpPr/>
          <p:nvPr/>
        </p:nvSpPr>
        <p:spPr>
          <a:xfrm>
            <a:off x="274320" y="3017520"/>
            <a:ext cx="11612880" cy="118872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400" b="1">
                <a:solidFill>
                  <a:srgbClr val="1F4E79"/>
                </a:solidFill>
              </a:rPr>
              <a:t>GT 统计汇总 (91篇)</a:t>
            </a:r>
          </a:p>
          <a:p>
            <a:pPr>
              <a:spcBef>
                <a:spcPts val="400"/>
              </a:spcBef>
            </a:pPr>
            <a:r>
              <a:rPr sz="1200">
                <a:solidFill>
                  <a:srgbClr val="333333"/>
                </a:solidFill>
              </a:rPr>
              <a:t>平均术语: 32.0 ± 6.7 个/篇    |    平均关系: 21.3 ± 14.1 条/篇    |    总术语: 2,907    |    总关系: 1,941
学科分布: 化学 30.9% | 材料科学 21.5% | 生物学 10.3% | 物理学 6.3% | 计算机 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400" b="1">
                <a:solidFill>
                  <a:srgbClr val="FFFFFF"/>
                </a:solidFill>
              </a:rPr>
              <a:t>  环节 8: P1-P5 评估框架 + 结果</a:t>
            </a:r>
          </a:p>
        </p:txBody>
      </p:sp>
      <p:graphicFrame>
        <p:nvGraphicFramePr>
          <p:cNvPr id="3" name="Table 2"/>
          <p:cNvGraphicFramePr>
            <a:graphicFrameLocks noGrp="1"/>
          </p:cNvGraphicFramePr>
          <p:nvPr/>
        </p:nvGraphicFramePr>
        <p:xfrm>
          <a:off x="274320" y="914400"/>
          <a:ext cx="11612880" cy="1828800"/>
        </p:xfrm>
        <a:graphic>
          <a:graphicData uri="http://schemas.openxmlformats.org/drawingml/2006/table">
            <a:tbl>
              <a:tblPr firstRow="1" bandRow="1">
                <a:tableStyleId>{5C22544A-7EE6-4342-B048-85BDC9FD1C3A}</a:tableStyleId>
              </a:tblPr>
              <a:tblGrid>
                <a:gridCol w="1451610"/>
                <a:gridCol w="1451610"/>
                <a:gridCol w="1451610"/>
                <a:gridCol w="1451610"/>
                <a:gridCol w="1451610"/>
                <a:gridCol w="1451610"/>
                <a:gridCol w="1451610"/>
                <a:gridCol w="1451610"/>
              </a:tblGrid>
              <a:tr h="365760">
                <a:tc>
                  <a:txBody>
                    <a:bodyPr/>
                    <a:lstStyle/>
                    <a:p>
                      <a:r>
                        <a:rPr sz="1100" b="1">
                          <a:solidFill>
                            <a:srgbClr val="FFFFFF"/>
                          </a:solidFill>
                        </a:rPr>
                        <a:t>方法</a:t>
                      </a:r>
                    </a:p>
                  </a:txBody>
                  <a:tcPr>
                    <a:solidFill>
                      <a:srgbClr val="1F4E79"/>
                    </a:solidFill>
                  </a:tcPr>
                </a:tc>
                <a:tc>
                  <a:txBody>
                    <a:bodyPr/>
                    <a:lstStyle/>
                    <a:p>
                      <a:r>
                        <a:rPr sz="1100" b="1">
                          <a:solidFill>
                            <a:srgbClr val="FFFFFF"/>
                          </a:solidFill>
                        </a:rPr>
                        <a:t>新颖性</a:t>
                      </a:r>
                    </a:p>
                  </a:txBody>
                  <a:tcPr>
                    <a:solidFill>
                      <a:srgbClr val="1F4E79"/>
                    </a:solidFill>
                  </a:tcPr>
                </a:tc>
                <a:tc>
                  <a:txBody>
                    <a:bodyPr/>
                    <a:lstStyle/>
                    <a:p>
                      <a:r>
                        <a:rPr sz="1100" b="1">
                          <a:solidFill>
                            <a:srgbClr val="FFFFFF"/>
                          </a:solidFill>
                        </a:rPr>
                        <a:t>具体性</a:t>
                      </a:r>
                    </a:p>
                  </a:txBody>
                  <a:tcPr>
                    <a:solidFill>
                      <a:srgbClr val="1F4E79"/>
                    </a:solidFill>
                  </a:tcPr>
                </a:tc>
                <a:tc>
                  <a:txBody>
                    <a:bodyPr/>
                    <a:lstStyle/>
                    <a:p>
                      <a:r>
                        <a:rPr sz="1100" b="1">
                          <a:solidFill>
                            <a:srgbClr val="FFFFFF"/>
                          </a:solidFill>
                        </a:rPr>
                        <a:t>可行性</a:t>
                      </a:r>
                    </a:p>
                  </a:txBody>
                  <a:tcPr>
                    <a:solidFill>
                      <a:srgbClr val="1F4E79"/>
                    </a:solidFill>
                  </a:tcPr>
                </a:tc>
                <a:tc>
                  <a:txBody>
                    <a:bodyPr/>
                    <a:lstStyle/>
                    <a:p>
                      <a:r>
                        <a:rPr sz="1100" b="1">
                          <a:solidFill>
                            <a:srgbClr val="FFFFFF"/>
                          </a:solidFill>
                        </a:rPr>
                        <a:t>相关性</a:t>
                      </a:r>
                    </a:p>
                  </a:txBody>
                  <a:tcPr>
                    <a:solidFill>
                      <a:srgbClr val="1F4E79"/>
                    </a:solidFill>
                  </a:tcPr>
                </a:tc>
                <a:tc>
                  <a:txBody>
                    <a:bodyPr/>
                    <a:lstStyle/>
                    <a:p>
                      <a:r>
                        <a:rPr sz="1100" b="1">
                          <a:solidFill>
                            <a:srgbClr val="FFFFFF"/>
                          </a:solidFill>
                        </a:rPr>
                        <a:t>跨学科</a:t>
                      </a:r>
                    </a:p>
                  </a:txBody>
                  <a:tcPr>
                    <a:solidFill>
                      <a:srgbClr val="1F4E79"/>
                    </a:solidFill>
                  </a:tcPr>
                </a:tc>
                <a:tc>
                  <a:txBody>
                    <a:bodyPr/>
                    <a:lstStyle/>
                    <a:p>
                      <a:r>
                        <a:rPr sz="1100" b="1">
                          <a:solidFill>
                            <a:srgbClr val="FFFFFF"/>
                          </a:solidFill>
                        </a:rPr>
                        <a:t>假设数</a:t>
                      </a:r>
                    </a:p>
                  </a:txBody>
                  <a:tcPr>
                    <a:solidFill>
                      <a:srgbClr val="1F4E79"/>
                    </a:solidFill>
                  </a:tcPr>
                </a:tc>
                <a:tc>
                  <a:txBody>
                    <a:bodyPr/>
                    <a:lstStyle/>
                    <a:p>
                      <a:r>
                        <a:rPr sz="1100" b="1">
                          <a:solidFill>
                            <a:srgbClr val="FFFFFF"/>
                          </a:solidFill>
                        </a:rPr>
                        <a:t>耗时(s)</a:t>
                      </a:r>
                    </a:p>
                  </a:txBody>
                  <a:tcPr>
                    <a:solidFill>
                      <a:srgbClr val="1F4E79"/>
                    </a:solidFill>
                  </a:tcPr>
                </a:tc>
              </a:tr>
              <a:tr h="365760">
                <a:tc>
                  <a:txBody>
                    <a:bodyPr/>
                    <a:lstStyle/>
                    <a:p>
                      <a:r>
                        <a:rPr sz="1100"/>
                        <a:t>P1 (裸问题)</a:t>
                      </a:r>
                    </a:p>
                  </a:txBody>
                  <a:tcPr/>
                </a:tc>
                <a:tc>
                  <a:txBody>
                    <a:bodyPr/>
                    <a:lstStyle/>
                    <a:p>
                      <a:r>
                        <a:rPr sz="1100"/>
                        <a:t>8.67</a:t>
                      </a:r>
                    </a:p>
                  </a:txBody>
                  <a:tcPr/>
                </a:tc>
                <a:tc>
                  <a:txBody>
                    <a:bodyPr/>
                    <a:lstStyle/>
                    <a:p>
                      <a:r>
                        <a:rPr sz="1100"/>
                        <a:t>9.00</a:t>
                      </a:r>
                    </a:p>
                  </a:txBody>
                  <a:tcPr/>
                </a:tc>
                <a:tc>
                  <a:txBody>
                    <a:bodyPr/>
                    <a:lstStyle/>
                    <a:p>
                      <a:r>
                        <a:rPr sz="1100"/>
                        <a:t>8.00</a:t>
                      </a:r>
                    </a:p>
                  </a:txBody>
                  <a:tcPr/>
                </a:tc>
                <a:tc>
                  <a:txBody>
                    <a:bodyPr/>
                    <a:lstStyle/>
                    <a:p>
                      <a:r>
                        <a:rPr sz="1100"/>
                        <a:t>9.33</a:t>
                      </a:r>
                    </a:p>
                  </a:txBody>
                  <a:tcPr/>
                </a:tc>
                <a:tc>
                  <a:txBody>
                    <a:bodyPr/>
                    <a:lstStyle/>
                    <a:p>
                      <a:r>
                        <a:rPr sz="1100"/>
                        <a:t>9.00</a:t>
                      </a:r>
                    </a:p>
                  </a:txBody>
                  <a:tcPr/>
                </a:tc>
                <a:tc>
                  <a:txBody>
                    <a:bodyPr/>
                    <a:lstStyle/>
                    <a:p>
                      <a:r>
                        <a:rPr sz="1100"/>
                        <a:t>1.0</a:t>
                      </a:r>
                    </a:p>
                  </a:txBody>
                  <a:tcPr/>
                </a:tc>
                <a:tc>
                  <a:txBody>
                    <a:bodyPr/>
                    <a:lstStyle/>
                    <a:p>
                      <a:r>
                        <a:rPr sz="1100"/>
                        <a:t>22.8</a:t>
                      </a:r>
                    </a:p>
                  </a:txBody>
                  <a:tcPr/>
                </a:tc>
              </a:tr>
              <a:tr h="365760">
                <a:tc>
                  <a:txBody>
                    <a:bodyPr/>
                    <a:lstStyle/>
                    <a:p>
                      <a:r>
                        <a:rPr sz="1100"/>
                        <a:t>P2 (+摘要)</a:t>
                      </a:r>
                    </a:p>
                  </a:txBody>
                  <a:tcPr/>
                </a:tc>
                <a:tc>
                  <a:txBody>
                    <a:bodyPr/>
                    <a:lstStyle/>
                    <a:p>
                      <a:r>
                        <a:rPr sz="1100"/>
                        <a:t>8.00</a:t>
                      </a:r>
                    </a:p>
                  </a:txBody>
                  <a:tcPr/>
                </a:tc>
                <a:tc>
                  <a:txBody>
                    <a:bodyPr/>
                    <a:lstStyle/>
                    <a:p>
                      <a:r>
                        <a:rPr sz="1100"/>
                        <a:t>8.67</a:t>
                      </a:r>
                    </a:p>
                  </a:txBody>
                  <a:tcPr/>
                </a:tc>
                <a:tc>
                  <a:txBody>
                    <a:bodyPr/>
                    <a:lstStyle/>
                    <a:p>
                      <a:r>
                        <a:rPr sz="1100"/>
                        <a:t>8.33</a:t>
                      </a:r>
                    </a:p>
                  </a:txBody>
                  <a:tcPr/>
                </a:tc>
                <a:tc>
                  <a:txBody>
                    <a:bodyPr/>
                    <a:lstStyle/>
                    <a:p>
                      <a:r>
                        <a:rPr sz="1100"/>
                        <a:t>9.67</a:t>
                      </a:r>
                    </a:p>
                  </a:txBody>
                  <a:tcPr/>
                </a:tc>
                <a:tc>
                  <a:txBody>
                    <a:bodyPr/>
                    <a:lstStyle/>
                    <a:p>
                      <a:r>
                        <a:rPr sz="1100"/>
                        <a:t>8.33</a:t>
                      </a:r>
                    </a:p>
                  </a:txBody>
                  <a:tcPr/>
                </a:tc>
                <a:tc>
                  <a:txBody>
                    <a:bodyPr/>
                    <a:lstStyle/>
                    <a:p>
                      <a:r>
                        <a:rPr sz="1100"/>
                        <a:t>1.0</a:t>
                      </a:r>
                    </a:p>
                  </a:txBody>
                  <a:tcPr/>
                </a:tc>
                <a:tc>
                  <a:txBody>
                    <a:bodyPr/>
                    <a:lstStyle/>
                    <a:p>
                      <a:r>
                        <a:rPr sz="1100"/>
                        <a:t>31.9</a:t>
                      </a:r>
                    </a:p>
                  </a:txBody>
                  <a:tcPr/>
                </a:tc>
              </a:tr>
              <a:tr h="365760">
                <a:tc>
                  <a:txBody>
                    <a:bodyPr/>
                    <a:lstStyle/>
                    <a:p>
                      <a:r>
                        <a:rPr sz="1100"/>
                        <a:t>P3 (+概念)</a:t>
                      </a:r>
                    </a:p>
                  </a:txBody>
                  <a:tcPr/>
                </a:tc>
                <a:tc>
                  <a:txBody>
                    <a:bodyPr/>
                    <a:lstStyle/>
                    <a:p>
                      <a:r>
                        <a:rPr sz="1100"/>
                        <a:t>8.00</a:t>
                      </a:r>
                    </a:p>
                  </a:txBody>
                  <a:tcPr/>
                </a:tc>
                <a:tc>
                  <a:txBody>
                    <a:bodyPr/>
                    <a:lstStyle/>
                    <a:p>
                      <a:r>
                        <a:rPr sz="1100"/>
                        <a:t>8.33</a:t>
                      </a:r>
                    </a:p>
                  </a:txBody>
                  <a:tcPr/>
                </a:tc>
                <a:tc>
                  <a:txBody>
                    <a:bodyPr/>
                    <a:lstStyle/>
                    <a:p>
                      <a:r>
                        <a:rPr sz="1100"/>
                        <a:t>8.00</a:t>
                      </a:r>
                    </a:p>
                  </a:txBody>
                  <a:tcPr/>
                </a:tc>
                <a:tc>
                  <a:txBody>
                    <a:bodyPr/>
                    <a:lstStyle/>
                    <a:p>
                      <a:r>
                        <a:rPr sz="1100"/>
                        <a:t>9.33</a:t>
                      </a:r>
                    </a:p>
                  </a:txBody>
                  <a:tcPr/>
                </a:tc>
                <a:tc>
                  <a:txBody>
                    <a:bodyPr/>
                    <a:lstStyle/>
                    <a:p>
                      <a:r>
                        <a:rPr sz="1100"/>
                        <a:t>8.67</a:t>
                      </a:r>
                    </a:p>
                  </a:txBody>
                  <a:tcPr/>
                </a:tc>
                <a:tc>
                  <a:txBody>
                    <a:bodyPr/>
                    <a:lstStyle/>
                    <a:p>
                      <a:r>
                        <a:rPr sz="1100"/>
                        <a:t>1.0</a:t>
                      </a:r>
                    </a:p>
                  </a:txBody>
                  <a:tcPr/>
                </a:tc>
                <a:tc>
                  <a:txBody>
                    <a:bodyPr/>
                    <a:lstStyle/>
                    <a:p>
                      <a:r>
                        <a:rPr sz="1100"/>
                        <a:t>33.7</a:t>
                      </a:r>
                    </a:p>
                  </a:txBody>
                  <a:tcPr/>
                </a:tc>
              </a:tr>
              <a:tr h="365760">
                <a:tc>
                  <a:txBody>
                    <a:bodyPr/>
                    <a:lstStyle/>
                    <a:p>
                      <a:r>
                        <a:rPr sz="1100"/>
                        <a:t>P5 (全KG)</a:t>
                      </a:r>
                    </a:p>
                  </a:txBody>
                  <a:tcPr/>
                </a:tc>
                <a:tc>
                  <a:txBody>
                    <a:bodyPr/>
                    <a:lstStyle/>
                    <a:p>
                      <a:r>
                        <a:rPr sz="1100"/>
                        <a:t>7.67</a:t>
                      </a:r>
                    </a:p>
                  </a:txBody>
                  <a:tcPr/>
                </a:tc>
                <a:tc>
                  <a:txBody>
                    <a:bodyPr/>
                    <a:lstStyle/>
                    <a:p>
                      <a:r>
                        <a:rPr sz="1100"/>
                        <a:t>7.33</a:t>
                      </a:r>
                    </a:p>
                  </a:txBody>
                  <a:tcPr/>
                </a:tc>
                <a:tc>
                  <a:txBody>
                    <a:bodyPr/>
                    <a:lstStyle/>
                    <a:p>
                      <a:r>
                        <a:rPr sz="1100"/>
                        <a:t>8.67</a:t>
                      </a:r>
                    </a:p>
                  </a:txBody>
                  <a:tcPr/>
                </a:tc>
                <a:tc>
                  <a:txBody>
                    <a:bodyPr/>
                    <a:lstStyle/>
                    <a:p>
                      <a:r>
                        <a:rPr sz="1100"/>
                        <a:t>9.33</a:t>
                      </a:r>
                    </a:p>
                  </a:txBody>
                  <a:tcPr/>
                </a:tc>
                <a:tc>
                  <a:txBody>
                    <a:bodyPr/>
                    <a:lstStyle/>
                    <a:p>
                      <a:r>
                        <a:rPr sz="1100"/>
                        <a:t>8.00</a:t>
                      </a:r>
                    </a:p>
                  </a:txBody>
                  <a:tcPr/>
                </a:tc>
                <a:tc>
                  <a:txBody>
                    <a:bodyPr/>
                    <a:lstStyle/>
                    <a:p>
                      <a:r>
                        <a:rPr sz="1100"/>
                        <a:t>6.33</a:t>
                      </a:r>
                    </a:p>
                  </a:txBody>
                  <a:tcPr/>
                </a:tc>
                <a:tc>
                  <a:txBody>
                    <a:bodyPr/>
                    <a:lstStyle/>
                    <a:p>
                      <a:r>
                        <a:rPr sz="1100"/>
                        <a:t>&lt;0.01</a:t>
                      </a:r>
                    </a:p>
                  </a:txBody>
                  <a:tcPr/>
                </a:tc>
              </a:tr>
            </a:tbl>
          </a:graphicData>
        </a:graphic>
      </p:graphicFrame>
      <p:sp>
        <p:nvSpPr>
          <p:cNvPr id="4" name="Rectangle 3"/>
          <p:cNvSpPr/>
          <p:nvPr/>
        </p:nvSpPr>
        <p:spPr>
          <a:xfrm>
            <a:off x="274320" y="3017520"/>
            <a:ext cx="11612880" cy="1828800"/>
          </a:xfrm>
          <a:prstGeom prst="rect">
            <a:avLst/>
          </a:prstGeom>
          <a:solidFill>
            <a:srgbClr val="FFF3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500" b="1">
                <a:solidFill>
                  <a:srgbClr val="ED7D31"/>
                </a:solidFill>
              </a:rPr>
              <a:t>核心发现</a:t>
            </a:r>
          </a:p>
          <a:p>
            <a:pPr>
              <a:spcBef>
                <a:spcPts val="400"/>
              </a:spcBef>
            </a:pPr>
            <a:r>
              <a:rPr sz="1300">
                <a:solidFill>
                  <a:srgbClr val="333333"/>
                </a:solidFill>
              </a:rPr>
              <a:t>① 新颖性-可行性权衡: P1 最高新颖性(8.67), P5 最高可行性(8.67) — 无约束生成更有创意, KG接地更可操作
② 信息不单调递增: P2 相关性最高(9.67), P3/P4 反而下降 — 过多结构信息可能限制LLM创造空间
③ P5 生成 6.3× 更多假设, 完美结构一致性, 耗时&lt;0.001s
④ 未来方向: 结合自由文本创造性 + KG结构保证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457200" y="457200"/>
            <a:ext cx="10972800" cy="731520"/>
          </a:xfrm>
          <a:prstGeom prst="rect">
            <a:avLst/>
          </a:prstGeom>
          <a:noFill/>
        </p:spPr>
        <p:txBody>
          <a:bodyPr wrap="square">
            <a:spAutoFit/>
          </a:bodyPr>
          <a:lstStyle/>
          <a:p>
            <a:pPr algn="ctr"/>
            <a:r>
              <a:rPr sz="3200" b="1">
                <a:solidFill>
                  <a:srgbClr val="FFFFFF"/>
                </a:solidFill>
              </a:rPr>
              <a:t>总结</a:t>
            </a:r>
          </a:p>
        </p:txBody>
      </p:sp>
      <p:sp>
        <p:nvSpPr>
          <p:cNvPr id="3" name="TextBox 2"/>
          <p:cNvSpPr txBox="1"/>
          <p:nvPr/>
        </p:nvSpPr>
        <p:spPr>
          <a:xfrm>
            <a:off x="1371600" y="1371600"/>
            <a:ext cx="2743200" cy="457200"/>
          </a:xfrm>
          <a:prstGeom prst="rect">
            <a:avLst/>
          </a:prstGeom>
          <a:noFill/>
        </p:spPr>
        <p:txBody>
          <a:bodyPr wrap="square">
            <a:spAutoFit/>
          </a:bodyPr>
          <a:lstStyle/>
          <a:p>
            <a:pPr algn="l"/>
            <a:r>
              <a:rPr sz="1600" b="1">
                <a:solidFill>
                  <a:srgbClr val="BBDDFF"/>
                </a:solidFill>
              </a:rPr>
              <a:t>① 学科分类</a:t>
            </a:r>
          </a:p>
        </p:txBody>
      </p:sp>
      <p:sp>
        <p:nvSpPr>
          <p:cNvPr id="4" name="TextBox 3"/>
          <p:cNvSpPr txBox="1"/>
          <p:nvPr/>
        </p:nvSpPr>
        <p:spPr>
          <a:xfrm>
            <a:off x="4389120" y="1371600"/>
            <a:ext cx="6858000" cy="457200"/>
          </a:xfrm>
          <a:prstGeom prst="rect">
            <a:avLst/>
          </a:prstGeom>
          <a:noFill/>
        </p:spPr>
        <p:txBody>
          <a:bodyPr wrap="square">
            <a:spAutoFit/>
          </a:bodyPr>
          <a:lstStyle/>
          <a:p>
            <a:pPr algn="l"/>
            <a:r>
              <a:rPr sz="1400" b="0">
                <a:solidFill>
                  <a:srgbClr val="FFFFFF"/>
                </a:solidFill>
              </a:rPr>
              <a:t>论文 → 主/辅学科 (化学 + 材料 + 环境)</a:t>
            </a:r>
          </a:p>
        </p:txBody>
      </p:sp>
      <p:sp>
        <p:nvSpPr>
          <p:cNvPr id="5" name="TextBox 4"/>
          <p:cNvSpPr txBox="1"/>
          <p:nvPr/>
        </p:nvSpPr>
        <p:spPr>
          <a:xfrm>
            <a:off x="1371600" y="1965960"/>
            <a:ext cx="2743200" cy="457200"/>
          </a:xfrm>
          <a:prstGeom prst="rect">
            <a:avLst/>
          </a:prstGeom>
          <a:noFill/>
        </p:spPr>
        <p:txBody>
          <a:bodyPr wrap="square">
            <a:spAutoFit/>
          </a:bodyPr>
          <a:lstStyle/>
          <a:p>
            <a:pPr algn="l"/>
            <a:r>
              <a:rPr sz="1600" b="1">
                <a:solidFill>
                  <a:srgbClr val="BBDDFF"/>
                </a:solidFill>
              </a:rPr>
              <a:t>② 概念抽取</a:t>
            </a:r>
          </a:p>
        </p:txBody>
      </p:sp>
      <p:sp>
        <p:nvSpPr>
          <p:cNvPr id="6" name="TextBox 5"/>
          <p:cNvSpPr txBox="1"/>
          <p:nvPr/>
        </p:nvSpPr>
        <p:spPr>
          <a:xfrm>
            <a:off x="4389120" y="1965960"/>
            <a:ext cx="6858000" cy="457200"/>
          </a:xfrm>
          <a:prstGeom prst="rect">
            <a:avLst/>
          </a:prstGeom>
          <a:noFill/>
        </p:spPr>
        <p:txBody>
          <a:bodyPr wrap="square">
            <a:spAutoFit/>
          </a:bodyPr>
          <a:lstStyle/>
          <a:p>
            <a:pPr algn="l"/>
            <a:r>
              <a:rPr sz="1400" b="0">
                <a:solidFill>
                  <a:srgbClr val="FFFFFF"/>
                </a:solidFill>
              </a:rPr>
              <a:t>22 个结构化概念 (含证据 + 置信度)</a:t>
            </a:r>
          </a:p>
        </p:txBody>
      </p:sp>
      <p:sp>
        <p:nvSpPr>
          <p:cNvPr id="7" name="TextBox 6"/>
          <p:cNvSpPr txBox="1"/>
          <p:nvPr/>
        </p:nvSpPr>
        <p:spPr>
          <a:xfrm>
            <a:off x="1371600" y="2560320"/>
            <a:ext cx="2743200" cy="457200"/>
          </a:xfrm>
          <a:prstGeom prst="rect">
            <a:avLst/>
          </a:prstGeom>
          <a:noFill/>
        </p:spPr>
        <p:txBody>
          <a:bodyPr wrap="square">
            <a:spAutoFit/>
          </a:bodyPr>
          <a:lstStyle/>
          <a:p>
            <a:pPr algn="l"/>
            <a:r>
              <a:rPr sz="1600" b="1">
                <a:solidFill>
                  <a:srgbClr val="BBDDFF"/>
                </a:solidFill>
              </a:rPr>
              <a:t>③ 关系抽取</a:t>
            </a:r>
          </a:p>
        </p:txBody>
      </p:sp>
      <p:sp>
        <p:nvSpPr>
          <p:cNvPr id="8" name="TextBox 7"/>
          <p:cNvSpPr txBox="1"/>
          <p:nvPr/>
        </p:nvSpPr>
        <p:spPr>
          <a:xfrm>
            <a:off x="4389120" y="2560320"/>
            <a:ext cx="6858000" cy="457200"/>
          </a:xfrm>
          <a:prstGeom prst="rect">
            <a:avLst/>
          </a:prstGeom>
          <a:noFill/>
        </p:spPr>
        <p:txBody>
          <a:bodyPr wrap="square">
            <a:spAutoFit/>
          </a:bodyPr>
          <a:lstStyle/>
          <a:p>
            <a:pPr algn="l"/>
            <a:r>
              <a:rPr sz="1400" b="0">
                <a:solidFill>
                  <a:srgbClr val="FFFFFF"/>
                </a:solidFill>
              </a:rPr>
              <a:t>8 条类型化跨学科关系</a:t>
            </a:r>
          </a:p>
        </p:txBody>
      </p:sp>
      <p:sp>
        <p:nvSpPr>
          <p:cNvPr id="9" name="TextBox 8"/>
          <p:cNvSpPr txBox="1"/>
          <p:nvPr/>
        </p:nvSpPr>
        <p:spPr>
          <a:xfrm>
            <a:off x="1371600" y="3154680"/>
            <a:ext cx="2743200" cy="457200"/>
          </a:xfrm>
          <a:prstGeom prst="rect">
            <a:avLst/>
          </a:prstGeom>
          <a:noFill/>
        </p:spPr>
        <p:txBody>
          <a:bodyPr wrap="square">
            <a:spAutoFit/>
          </a:bodyPr>
          <a:lstStyle/>
          <a:p>
            <a:pPr algn="l"/>
            <a:r>
              <a:rPr sz="1600" b="1">
                <a:solidFill>
                  <a:srgbClr val="BBDDFF"/>
                </a:solidFill>
              </a:rPr>
              <a:t>④ 查询生成</a:t>
            </a:r>
          </a:p>
        </p:txBody>
      </p:sp>
      <p:sp>
        <p:nvSpPr>
          <p:cNvPr id="10" name="TextBox 9"/>
          <p:cNvSpPr txBox="1"/>
          <p:nvPr/>
        </p:nvSpPr>
        <p:spPr>
          <a:xfrm>
            <a:off x="4389120" y="3154680"/>
            <a:ext cx="6858000" cy="457200"/>
          </a:xfrm>
          <a:prstGeom prst="rect">
            <a:avLst/>
          </a:prstGeom>
          <a:noFill/>
        </p:spPr>
        <p:txBody>
          <a:bodyPr wrap="square">
            <a:spAutoFit/>
          </a:bodyPr>
          <a:lstStyle/>
          <a:p>
            <a:pPr algn="l"/>
            <a:r>
              <a:rPr sz="1400" b="0">
                <a:solidFill>
                  <a:srgbClr val="FFFFFF"/>
                </a:solidFill>
              </a:rPr>
              <a:t>L1(宏观) + L2(中观) + L3(微观) 三层查询</a:t>
            </a:r>
          </a:p>
        </p:txBody>
      </p:sp>
      <p:sp>
        <p:nvSpPr>
          <p:cNvPr id="11" name="TextBox 10"/>
          <p:cNvSpPr txBox="1"/>
          <p:nvPr/>
        </p:nvSpPr>
        <p:spPr>
          <a:xfrm>
            <a:off x="1371600" y="3749039"/>
            <a:ext cx="2743200" cy="457200"/>
          </a:xfrm>
          <a:prstGeom prst="rect">
            <a:avLst/>
          </a:prstGeom>
          <a:noFill/>
        </p:spPr>
        <p:txBody>
          <a:bodyPr wrap="square">
            <a:spAutoFit/>
          </a:bodyPr>
          <a:lstStyle/>
          <a:p>
            <a:pPr algn="l"/>
            <a:r>
              <a:rPr sz="1600" b="1">
                <a:solidFill>
                  <a:srgbClr val="BBDDFF"/>
                </a:solidFill>
              </a:rPr>
              <a:t>⑤ 假设路径</a:t>
            </a:r>
          </a:p>
        </p:txBody>
      </p:sp>
      <p:sp>
        <p:nvSpPr>
          <p:cNvPr id="12" name="TextBox 11"/>
          <p:cNvSpPr txBox="1"/>
          <p:nvPr/>
        </p:nvSpPr>
        <p:spPr>
          <a:xfrm>
            <a:off x="4389120" y="3749039"/>
            <a:ext cx="6858000" cy="457200"/>
          </a:xfrm>
          <a:prstGeom prst="rect">
            <a:avLst/>
          </a:prstGeom>
          <a:noFill/>
        </p:spPr>
        <p:txBody>
          <a:bodyPr wrap="square">
            <a:spAutoFit/>
          </a:bodyPr>
          <a:lstStyle/>
          <a:p>
            <a:pPr algn="l"/>
            <a:r>
              <a:rPr sz="1400" b="0">
                <a:solidFill>
                  <a:srgbClr val="FFFFFF"/>
                </a:solidFill>
              </a:rPr>
              <a:t>7 条三步链式推理路径 (完美链式一致性)</a:t>
            </a:r>
          </a:p>
        </p:txBody>
      </p:sp>
      <p:sp>
        <p:nvSpPr>
          <p:cNvPr id="13" name="TextBox 12"/>
          <p:cNvSpPr txBox="1"/>
          <p:nvPr/>
        </p:nvSpPr>
        <p:spPr>
          <a:xfrm>
            <a:off x="1371600" y="4343400"/>
            <a:ext cx="2743200" cy="457200"/>
          </a:xfrm>
          <a:prstGeom prst="rect">
            <a:avLst/>
          </a:prstGeom>
          <a:noFill/>
        </p:spPr>
        <p:txBody>
          <a:bodyPr wrap="square">
            <a:spAutoFit/>
          </a:bodyPr>
          <a:lstStyle/>
          <a:p>
            <a:pPr algn="l"/>
            <a:r>
              <a:rPr sz="1600" b="1">
                <a:solidFill>
                  <a:srgbClr val="BBDDFF"/>
                </a:solidFill>
              </a:rPr>
              <a:t>⑥ KG构建</a:t>
            </a:r>
          </a:p>
        </p:txBody>
      </p:sp>
      <p:sp>
        <p:nvSpPr>
          <p:cNvPr id="14" name="TextBox 13"/>
          <p:cNvSpPr txBox="1"/>
          <p:nvPr/>
        </p:nvSpPr>
        <p:spPr>
          <a:xfrm>
            <a:off x="4389120" y="4343400"/>
            <a:ext cx="6858000" cy="457200"/>
          </a:xfrm>
          <a:prstGeom prst="rect">
            <a:avLst/>
          </a:prstGeom>
          <a:noFill/>
        </p:spPr>
        <p:txBody>
          <a:bodyPr wrap="square">
            <a:spAutoFit/>
          </a:bodyPr>
          <a:lstStyle/>
          <a:p>
            <a:pPr algn="l"/>
            <a:r>
              <a:rPr sz="1400" b="0">
                <a:solidFill>
                  <a:srgbClr val="FFFFFF"/>
                </a:solidFill>
              </a:rPr>
              <a:t>31 节点 + 28 边, 12 维质量指标</a:t>
            </a:r>
          </a:p>
        </p:txBody>
      </p:sp>
      <p:sp>
        <p:nvSpPr>
          <p:cNvPr id="15" name="TextBox 14"/>
          <p:cNvSpPr txBox="1"/>
          <p:nvPr/>
        </p:nvSpPr>
        <p:spPr>
          <a:xfrm>
            <a:off x="1371600" y="4937760"/>
            <a:ext cx="2743200" cy="457200"/>
          </a:xfrm>
          <a:prstGeom prst="rect">
            <a:avLst/>
          </a:prstGeom>
          <a:noFill/>
        </p:spPr>
        <p:txBody>
          <a:bodyPr wrap="square">
            <a:spAutoFit/>
          </a:bodyPr>
          <a:lstStyle/>
          <a:p>
            <a:pPr algn="l"/>
            <a:r>
              <a:rPr sz="1600" b="1">
                <a:solidFill>
                  <a:srgbClr val="BBDDFF"/>
                </a:solidFill>
              </a:rPr>
              <a:t>⑦ GT构建</a:t>
            </a:r>
          </a:p>
        </p:txBody>
      </p:sp>
      <p:sp>
        <p:nvSpPr>
          <p:cNvPr id="16" name="TextBox 15"/>
          <p:cNvSpPr txBox="1"/>
          <p:nvPr/>
        </p:nvSpPr>
        <p:spPr>
          <a:xfrm>
            <a:off x="4389120" y="4937760"/>
            <a:ext cx="6858000" cy="457200"/>
          </a:xfrm>
          <a:prstGeom prst="rect">
            <a:avLst/>
          </a:prstGeom>
          <a:noFill/>
        </p:spPr>
        <p:txBody>
          <a:bodyPr wrap="square">
            <a:spAutoFit/>
          </a:bodyPr>
          <a:lstStyle/>
          <a:p>
            <a:pPr algn="l"/>
            <a:r>
              <a:rPr sz="1400" b="0">
                <a:solidFill>
                  <a:srgbClr val="FFFFFF"/>
                </a:solidFill>
              </a:rPr>
              <a:t>30 术语 + 9 关系 + 跨学科路径</a:t>
            </a:r>
          </a:p>
        </p:txBody>
      </p:sp>
      <p:sp>
        <p:nvSpPr>
          <p:cNvPr id="17" name="TextBox 16"/>
          <p:cNvSpPr txBox="1"/>
          <p:nvPr/>
        </p:nvSpPr>
        <p:spPr>
          <a:xfrm>
            <a:off x="1371600" y="5532120"/>
            <a:ext cx="2743200" cy="457200"/>
          </a:xfrm>
          <a:prstGeom prst="rect">
            <a:avLst/>
          </a:prstGeom>
          <a:noFill/>
        </p:spPr>
        <p:txBody>
          <a:bodyPr wrap="square">
            <a:spAutoFit/>
          </a:bodyPr>
          <a:lstStyle/>
          <a:p>
            <a:pPr algn="l"/>
            <a:r>
              <a:rPr sz="1600" b="1">
                <a:solidFill>
                  <a:srgbClr val="BBDDFF"/>
                </a:solidFill>
              </a:rPr>
              <a:t>⑧ P1-P5评估</a:t>
            </a:r>
          </a:p>
        </p:txBody>
      </p:sp>
      <p:sp>
        <p:nvSpPr>
          <p:cNvPr id="18" name="TextBox 17"/>
          <p:cNvSpPr txBox="1"/>
          <p:nvPr/>
        </p:nvSpPr>
        <p:spPr>
          <a:xfrm>
            <a:off x="4389120" y="5532120"/>
            <a:ext cx="6858000" cy="457200"/>
          </a:xfrm>
          <a:prstGeom prst="rect">
            <a:avLst/>
          </a:prstGeom>
          <a:noFill/>
        </p:spPr>
        <p:txBody>
          <a:bodyPr wrap="square">
            <a:spAutoFit/>
          </a:bodyPr>
          <a:lstStyle/>
          <a:p>
            <a:pPr algn="l"/>
            <a:r>
              <a:rPr sz="1400" b="0">
                <a:solidFill>
                  <a:srgbClr val="FFFFFF"/>
                </a:solidFill>
              </a:rPr>
              <a:t>新颖性-可行性权衡 | P5: 6.3×假设, &lt;0.001s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