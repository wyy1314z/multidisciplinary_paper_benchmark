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跨学科知识图谱构建与</a:t>
            </a:r>
            <a:br/>
            <a:r>
              <a:t>Benchmark GT 数据集</a:t>
            </a:r>
          </a:p>
          <a:p>
            <a:pPr algn="ctr">
              <a:defRPr sz="2000">
                <a:solidFill>
                  <a:srgbClr val="CCDDEE"/>
                </a:solidFill>
              </a:defRPr>
            </a:pPr>
            <a:r>
              <a:t>Nature Communications 100篇 · v5 详细技术报告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数据总览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● 输入：100 篇 Nature Communications 论文，成功抽取 94 篇（94%）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● 知识图谱：2711 个概念节点，2549 条关系边，16 种关系类型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● 假设路径：L1 均 2.5 条/篇 + L2 均 2.0 + L3 均 2.0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● 图指标：24 项质量指标（7 核心 + 5 拓扑 + 12 对齐）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● Benchmark GT：91 条记录，均 32 术语 / 21 关系 / 12 路径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● 涵盖 18 个学科，材料科学/化学/生物学为前三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知识图谱构建全流程</a:t>
            </a:r>
          </a:p>
        </p:txBody>
      </p:sp>
      <p:pic>
        <p:nvPicPr>
          <p:cNvPr id="4" name="Picture 3" descr="pip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430000" cy="31288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知识图谱可视化示例</a:t>
            </a:r>
          </a:p>
        </p:txBody>
      </p:sp>
      <p:pic>
        <p:nvPicPr>
          <p:cNvPr id="4" name="Picture 3" descr="kg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42325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E75B6"/>
                </a:solidFill>
              </a:defRPr>
            </a:pPr>
            <a:r>
              <a:t>节点 (ConceptNode)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• id / term / normalized / discipline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• evidence / source / confidence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• 均 29 节点/篇 (min=20, max=54)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 b="1">
                <a:solidFill>
                  <a:srgbClr val="2E75B6"/>
                </a:solidFill>
              </a:defRPr>
            </a:pPr>
            <a:r>
              <a:t>边 (ConceptEdge)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• source → target + relation + type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• metadata: evidence + source + direction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• 均 27 边/篇 (min=19, max=34)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 b="1">
                <a:solidFill>
                  <a:srgbClr val="2E75B6"/>
                </a:solidFill>
              </a:defRPr>
            </a:pPr>
            <a:r>
              <a:t>节点按学科着色，边按类型着色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• 红=化学 蓝=材料科学 绿=环境科学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关系类型分布 (16种)</a:t>
            </a:r>
          </a:p>
        </p:txBody>
      </p:sp>
      <p:pic>
        <p:nvPicPr>
          <p:cNvPr id="4" name="Picture 3" descr="relation_type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0972800" cy="54225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假设推理路径 — L1/L2/L3 三级架构</a:t>
            </a:r>
          </a:p>
        </p:txBody>
      </p:sp>
      <p:pic>
        <p:nvPicPr>
          <p:cNvPr id="4" name="Picture 3" descr="hypothesis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887200" cy="44123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333333"/>
                </a:solidFill>
              </a:defRPr>
            </a:pPr>
            <a:r>
              <a:t>● L1: 宏观跨学科桥接 — 学科间高层互补关系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● L2: 中观机制推理 — 方法-现象层面的具体关联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● L3: 微观路径推理 — 复用已有关系边的精确推理链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● 每条路径 = 3步推理: head → relation → tail + claim；每篇 L1=2.5 / L2=2.0 / L3=2.0 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核心质量指标 (7项)</a:t>
            </a:r>
          </a:p>
        </p:txBody>
      </p:sp>
      <p:pic>
        <p:nvPicPr>
          <p:cNvPr id="4" name="Picture 3" descr="radar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46172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E75B6"/>
                </a:solidFill>
              </a:defRPr>
            </a:pPr>
            <a:r>
              <a:t>覆盖率 (Coverage) = 0.481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假设路径覆盖的结构概念比例</a:t>
            </a:r>
          </a:p>
          <a:p>
            <a:pPr>
              <a:spcAft>
                <a:spcPts val="1000"/>
              </a:spcAft>
              <a:defRPr sz="1700" b="1">
                <a:solidFill>
                  <a:srgbClr val="2E75B6"/>
                </a:solidFill>
              </a:defRPr>
            </a:pPr>
            <a:r>
              <a:t>桥接度 (Bridging) = 0.390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连接不同学科概念的边比例</a:t>
            </a:r>
          </a:p>
          <a:p>
            <a:pPr>
              <a:spcAft>
                <a:spcPts val="1000"/>
              </a:spcAft>
              <a:defRPr sz="1700" b="1">
                <a:solidFill>
                  <a:srgbClr val="2E75B6"/>
                </a:solidFill>
              </a:defRPr>
            </a:pPr>
            <a:r>
              <a:t>连贯性 (Coherence) = 0.580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知识路径各步骤间的语义连贯度</a:t>
            </a:r>
          </a:p>
          <a:p>
            <a:pPr>
              <a:spcAft>
                <a:spcPts val="1000"/>
              </a:spcAft>
              <a:defRPr sz="1700" b="1">
                <a:solidFill>
                  <a:srgbClr val="2E75B6"/>
                </a:solidFill>
              </a:defRPr>
            </a:pPr>
            <a:r>
              <a:t>Rao-Stirling 多样性 = 0.141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学科组合多样性（基于分类距离）</a:t>
            </a:r>
          </a:p>
          <a:p>
            <a:pPr>
              <a:spcAft>
                <a:spcPts val="1000"/>
              </a:spcAft>
              <a:defRPr sz="1700" b="1">
                <a:solidFill>
                  <a:srgbClr val="2E75B6"/>
                </a:solidFill>
              </a:defRPr>
            </a:pPr>
            <a:r>
              <a:t>嵌入桥接度 = 0.962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语义空间中跨域桥接程度</a:t>
            </a:r>
          </a:p>
          <a:p>
            <a:pPr>
              <a:spcAft>
                <a:spcPts val="1000"/>
              </a:spcAft>
              <a:defRPr sz="1700" b="1">
                <a:solidFill>
                  <a:srgbClr val="2E75B6"/>
                </a:solidFill>
              </a:defRPr>
            </a:pPr>
            <a:r>
              <a:t>非典型组合 = 0.500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概念共现的非常规程度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图拓扑指标 (5项)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● 图密度 (kg_density) = 0.0294 — 实际边数/可能边数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● 逆模块度 (kg_inverse_modularity) = 0.9557 — 越高越不分裂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● 最大连通分量比 (kg_largest_cc_ratio) = 0.5600 — 最大连通子图占比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● 平均介数中心性 (kg_avg_betweenness) = 0.0258 — 节点桥梁平均程度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● 聚类系数 (kg_clustering_coefficient) = 0.0604 — 邻居互连密集度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共 24 项指标：7 核心质量 + 5 图拓扑 + 12 对齐指标（需 GT 对比时激活）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Benchmark GT 数据集</a:t>
            </a:r>
          </a:p>
          <a:p>
            <a:pPr algn="ctr">
              <a:defRPr sz="2000">
                <a:solidFill>
                  <a:srgbClr val="CCDDEE"/>
                </a:solidFill>
              </a:defRPr>
            </a:pPr>
            <a:r>
              <a:t>Evidence-Grounded 三阶段构建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Benchmark GT — 构建流程 &amp; 数据结构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三阶段 Evidence-Grounded 构建管线：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Stage 1: 术语抽取 + 词典对齐 (Grounding) → terms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Stage 2: 句内共现分析 + 关系分类 → relations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Stage 3: NetworkX 图遍历 → 跨学科路径发现 → paths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每条 Benchmark 记录包含：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• id — 论文标题前50字符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• input — title / primary_discipline / secondary_disciplines / abstract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• ground_truth.terms — 术语表 (均 32 个/篇, 含 grounding 信息)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• ground_truth.relations — 关系表 (均 21 条/篇, 含证据句)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• ground_truth.paths — 跨学科路径 (均 12 条/篇)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• ground_truth.concept_graph — 序列化概念图 (nodes + edges)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• ground_truth.hypothesis_paths — L1/L2/L3 假设路径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• gt_stats — 统计摘要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Benchmark GT — 数据分布</a:t>
            </a:r>
          </a:p>
        </p:txBody>
      </p:sp>
      <p:pic>
        <p:nvPicPr>
          <p:cNvPr id="4" name="Picture 3" descr="benchmark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36984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学科分布（Top 10）</a:t>
            </a:r>
          </a:p>
        </p:txBody>
      </p:sp>
      <p:pic>
        <p:nvPicPr>
          <p:cNvPr id="4" name="Picture 3" descr="discipline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0972800" cy="4497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✦ 成功处理 94/100 篇论文（94% 成功率）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✦ 知识图谱总规模：2711 节点 / 2549 边 / 16 种关系类型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✦ 假设路径总量：613 条三级推理链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✦ 核心指标：覆盖率 48.1% | 桥接度 39.0% | 连贯性 0.580 | 多样性 0.141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✦ Benchmark GT：91 条记录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 均 32 术语 / 21 关系 / 12 路径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✦ 覆盖 18 个学科，最多涉及 11 个学科/篇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与 v4 对比（优化效果）：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• 成功率 87% → 94%（+7%，得益于 bug 修复 + JSON 截断修复）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• Stage 2 耗时 6h+ → ~1.5h（workers 2→8 + L1/L2/L3 并行）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